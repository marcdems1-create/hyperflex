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0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C9920D"/>
          </a:solidFill>
          <a:ln w="12700">
            <a:solidFill>
              <a:srgbClr val="C9920D"/>
            </a:solidFill>
            <a:prstDash val="solid"/>
          </a:ln>
        </p:spPr>
      </p:sp>
      <p:sp>
        <p:nvSpPr>
          <p:cNvPr id="3" name="Shape 1"/>
          <p:cNvSpPr/>
          <p:nvPr/>
        </p:nvSpPr>
        <p:spPr>
          <a:xfrm>
            <a:off x="54864" y="2011680"/>
            <a:ext cx="5029200" cy="36576"/>
          </a:xfrm>
          <a:prstGeom prst="rect">
            <a:avLst/>
          </a:prstGeom>
          <a:solidFill>
            <a:srgbClr val="C9920D"/>
          </a:solidFill>
          <a:ln w="12700">
            <a:solidFill>
              <a:srgbClr val="C9920D"/>
            </a:solidFill>
            <a:prstDash val="solid"/>
          </a:ln>
        </p:spPr>
      </p:sp>
      <p:sp>
        <p:nvSpPr>
          <p:cNvPr id="4" name="Text 2"/>
          <p:cNvSpPr/>
          <p:nvPr/>
        </p:nvSpPr>
        <p:spPr>
          <a:xfrm>
            <a:off x="457200" y="914400"/>
            <a:ext cx="6400800" cy="731520"/>
          </a:xfrm>
          <a:prstGeom prst="rect">
            <a:avLst/>
          </a:prstGeom>
          <a:noFill/>
          <a:ln/>
        </p:spPr>
        <p:txBody>
          <a:bodyPr wrap="square" lIns="0" tIns="0" rIns="0" bIns="0" rtlCol="0" anchor="ctr"/>
          <a:lstStyle/>
          <a:p>
            <a:pPr indent="0" marL="0">
              <a:buNone/>
            </a:pPr>
            <a:r>
              <a:rPr lang="en-US" sz="5400" b="1" spc="400" kern="0" dirty="0">
                <a:solidFill>
                  <a:srgbClr val="C9920D"/>
                </a:solidFill>
                <a:latin typeface="Georgia" pitchFamily="34" charset="0"/>
                <a:ea typeface="Georgia" pitchFamily="34" charset="-122"/>
                <a:cs typeface="Georgia" pitchFamily="34" charset="-120"/>
              </a:rPr>
              <a:t>◆ HYPERFLEX</a:t>
            </a:r>
            <a:endParaRPr lang="en-US" sz="5400" dirty="0"/>
          </a:p>
        </p:txBody>
      </p:sp>
      <p:sp>
        <p:nvSpPr>
          <p:cNvPr id="5" name="Text 3"/>
          <p:cNvSpPr/>
          <p:nvPr/>
        </p:nvSpPr>
        <p:spPr>
          <a:xfrm>
            <a:off x="457200" y="1691640"/>
            <a:ext cx="5486400" cy="320040"/>
          </a:xfrm>
          <a:prstGeom prst="rect">
            <a:avLst/>
          </a:prstGeom>
          <a:noFill/>
          <a:ln/>
        </p:spPr>
        <p:txBody>
          <a:bodyPr wrap="square" lIns="0" tIns="0" rIns="0" bIns="0" rtlCol="0" anchor="ctr"/>
          <a:lstStyle/>
          <a:p>
            <a:pPr indent="0" marL="0">
              <a:buNone/>
            </a:pPr>
            <a:r>
              <a:rPr lang="en-US" sz="1600" i="1" spc="200" kern="0" dirty="0">
                <a:solidFill>
                  <a:srgbClr val="7A7870"/>
                </a:solidFill>
                <a:latin typeface="Consolas" pitchFamily="34" charset="0"/>
                <a:ea typeface="Consolas" pitchFamily="34" charset="-122"/>
                <a:cs typeface="Consolas" pitchFamily="34" charset="-120"/>
              </a:rPr>
              <a:t>Predict Everything</a:t>
            </a:r>
            <a:endParaRPr lang="en-US" sz="1600" dirty="0"/>
          </a:p>
        </p:txBody>
      </p:sp>
      <p:sp>
        <p:nvSpPr>
          <p:cNvPr id="6" name="Text 4"/>
          <p:cNvSpPr/>
          <p:nvPr/>
        </p:nvSpPr>
        <p:spPr>
          <a:xfrm>
            <a:off x="457200" y="2286000"/>
            <a:ext cx="7315200" cy="640080"/>
          </a:xfrm>
          <a:prstGeom prst="rect">
            <a:avLst/>
          </a:prstGeom>
          <a:noFill/>
          <a:ln/>
        </p:spPr>
        <p:txBody>
          <a:bodyPr wrap="square" lIns="0" tIns="0" rIns="0" bIns="0" rtlCol="0" anchor="ctr"/>
          <a:lstStyle/>
          <a:p>
            <a:pPr indent="0" marL="0">
              <a:buNone/>
            </a:pPr>
            <a:r>
              <a:rPr lang="en-US" sz="3800" b="1" dirty="0">
                <a:solidFill>
                  <a:srgbClr val="DDD8CC"/>
                </a:solidFill>
                <a:latin typeface="Georgia" pitchFamily="34" charset="0"/>
                <a:ea typeface="Georgia" pitchFamily="34" charset="-122"/>
                <a:cs typeface="Georgia" pitchFamily="34" charset="-120"/>
              </a:rPr>
              <a:t>Kitco Partnership Call</a:t>
            </a:r>
            <a:endParaRPr lang="en-US" sz="3800" dirty="0"/>
          </a:p>
        </p:txBody>
      </p:sp>
      <p:sp>
        <p:nvSpPr>
          <p:cNvPr id="7" name="Text 5"/>
          <p:cNvSpPr/>
          <p:nvPr/>
        </p:nvSpPr>
        <p:spPr>
          <a:xfrm>
            <a:off x="457200" y="2944368"/>
            <a:ext cx="7315200" cy="411480"/>
          </a:xfrm>
          <a:prstGeom prst="rect">
            <a:avLst/>
          </a:prstGeom>
          <a:noFill/>
          <a:ln/>
        </p:spPr>
        <p:txBody>
          <a:bodyPr wrap="square" lIns="0" tIns="0" rIns="0" bIns="0" rtlCol="0" anchor="ctr"/>
          <a:lstStyle/>
          <a:p>
            <a:pPr indent="0" marL="0">
              <a:buNone/>
            </a:pPr>
            <a:r>
              <a:rPr lang="en-US" sz="2200" i="1" dirty="0">
                <a:solidFill>
                  <a:srgbClr val="7A7870"/>
                </a:solidFill>
                <a:latin typeface="Georgia" pitchFamily="34" charset="0"/>
                <a:ea typeface="Georgia" pitchFamily="34" charset="-122"/>
                <a:cs typeface="Georgia" pitchFamily="34" charset="-120"/>
              </a:rPr>
              <a:t>Q&amp;A Preparation Guide</a:t>
            </a:r>
            <a:endParaRPr lang="en-US" sz="2200" dirty="0"/>
          </a:p>
        </p:txBody>
      </p:sp>
      <p:sp>
        <p:nvSpPr>
          <p:cNvPr id="8" name="Shape 6"/>
          <p:cNvSpPr/>
          <p:nvPr/>
        </p:nvSpPr>
        <p:spPr>
          <a:xfrm>
            <a:off x="457200" y="3931920"/>
            <a:ext cx="2651760" cy="868680"/>
          </a:xfrm>
          <a:prstGeom prst="rect">
            <a:avLst/>
          </a:prstGeom>
          <a:solidFill>
            <a:srgbClr val="1C1C19"/>
          </a:solidFill>
          <a:ln w="12700">
            <a:solidFill>
              <a:srgbClr val="2A2A26"/>
            </a:solidFill>
            <a:prstDash val="solid"/>
          </a:ln>
        </p:spPr>
      </p:sp>
      <p:sp>
        <p:nvSpPr>
          <p:cNvPr id="9" name="Text 7"/>
          <p:cNvSpPr/>
          <p:nvPr/>
        </p:nvSpPr>
        <p:spPr>
          <a:xfrm>
            <a:off x="585216" y="4005072"/>
            <a:ext cx="2377440" cy="201168"/>
          </a:xfrm>
          <a:prstGeom prst="rect">
            <a:avLst/>
          </a:prstGeom>
          <a:noFill/>
          <a:ln/>
        </p:spPr>
        <p:txBody>
          <a:bodyPr wrap="square" lIns="0" tIns="0" rIns="0" bIns="0" rtlCol="0" anchor="ctr"/>
          <a:lstStyle/>
          <a:p>
            <a:pPr indent="0" marL="0">
              <a:buNone/>
            </a:pPr>
            <a:r>
              <a:rPr lang="en-US" sz="800" b="1" spc="200" kern="0" dirty="0">
                <a:solidFill>
                  <a:srgbClr val="C9920D"/>
                </a:solidFill>
                <a:latin typeface="Consolas" pitchFamily="34" charset="0"/>
                <a:ea typeface="Consolas" pitchFamily="34" charset="-122"/>
                <a:cs typeface="Consolas" pitchFamily="34" charset="-120"/>
              </a:rPr>
              <a:t>COUNTERPART</a:t>
            </a:r>
            <a:endParaRPr lang="en-US" sz="800" dirty="0"/>
          </a:p>
        </p:txBody>
      </p:sp>
      <p:sp>
        <p:nvSpPr>
          <p:cNvPr id="10" name="Text 8"/>
          <p:cNvSpPr/>
          <p:nvPr/>
        </p:nvSpPr>
        <p:spPr>
          <a:xfrm>
            <a:off x="585216" y="4224528"/>
            <a:ext cx="2377440" cy="475488"/>
          </a:xfrm>
          <a:prstGeom prst="rect">
            <a:avLst/>
          </a:prstGeom>
          <a:noFill/>
          <a:ln/>
        </p:spPr>
        <p:txBody>
          <a:bodyPr wrap="square" lIns="0" tIns="0" rIns="0" bIns="0" rtlCol="0" anchor="ctr"/>
          <a:lstStyle/>
          <a:p>
            <a:pPr indent="0" marL="0">
              <a:buNone/>
            </a:pPr>
            <a:r>
              <a:rPr lang="en-US" sz="1300" b="1" dirty="0">
                <a:solidFill>
                  <a:srgbClr val="DDD8CC"/>
                </a:solidFill>
                <a:latin typeface="Georgia" pitchFamily="34" charset="0"/>
                <a:ea typeface="Georgia" pitchFamily="34" charset="-122"/>
                <a:cs typeface="Georgia" pitchFamily="34" charset="-120"/>
              </a:rPr>
              <a:t>John Dourekas</a:t>
            </a:r>
            <a:endParaRPr lang="en-US" sz="1300" dirty="0"/>
          </a:p>
        </p:txBody>
      </p:sp>
      <p:sp>
        <p:nvSpPr>
          <p:cNvPr id="11" name="Shape 9"/>
          <p:cNvSpPr/>
          <p:nvPr/>
        </p:nvSpPr>
        <p:spPr>
          <a:xfrm>
            <a:off x="3291840" y="3931920"/>
            <a:ext cx="2651760" cy="868680"/>
          </a:xfrm>
          <a:prstGeom prst="rect">
            <a:avLst/>
          </a:prstGeom>
          <a:solidFill>
            <a:srgbClr val="1C1C19"/>
          </a:solidFill>
          <a:ln w="12700">
            <a:solidFill>
              <a:srgbClr val="2A2A26"/>
            </a:solidFill>
            <a:prstDash val="solid"/>
          </a:ln>
        </p:spPr>
      </p:sp>
      <p:sp>
        <p:nvSpPr>
          <p:cNvPr id="12" name="Text 10"/>
          <p:cNvSpPr/>
          <p:nvPr/>
        </p:nvSpPr>
        <p:spPr>
          <a:xfrm>
            <a:off x="3419856" y="4005072"/>
            <a:ext cx="2377440" cy="201168"/>
          </a:xfrm>
          <a:prstGeom prst="rect">
            <a:avLst/>
          </a:prstGeom>
          <a:noFill/>
          <a:ln/>
        </p:spPr>
        <p:txBody>
          <a:bodyPr wrap="square" lIns="0" tIns="0" rIns="0" bIns="0" rtlCol="0" anchor="ctr"/>
          <a:lstStyle/>
          <a:p>
            <a:pPr indent="0" marL="0">
              <a:buNone/>
            </a:pPr>
            <a:r>
              <a:rPr lang="en-US" sz="800" b="1" spc="200" kern="0" dirty="0">
                <a:solidFill>
                  <a:srgbClr val="C9920D"/>
                </a:solidFill>
                <a:latin typeface="Consolas" pitchFamily="34" charset="0"/>
                <a:ea typeface="Consolas" pitchFamily="34" charset="-122"/>
                <a:cs typeface="Consolas" pitchFamily="34" charset="-120"/>
              </a:rPr>
              <a:t>TITLE</a:t>
            </a:r>
            <a:endParaRPr lang="en-US" sz="800" dirty="0"/>
          </a:p>
        </p:txBody>
      </p:sp>
      <p:sp>
        <p:nvSpPr>
          <p:cNvPr id="13" name="Text 11"/>
          <p:cNvSpPr/>
          <p:nvPr/>
        </p:nvSpPr>
        <p:spPr>
          <a:xfrm>
            <a:off x="3419856" y="4224528"/>
            <a:ext cx="2377440" cy="475488"/>
          </a:xfrm>
          <a:prstGeom prst="rect">
            <a:avLst/>
          </a:prstGeom>
          <a:noFill/>
          <a:ln/>
        </p:spPr>
        <p:txBody>
          <a:bodyPr wrap="square" lIns="0" tIns="0" rIns="0" bIns="0" rtlCol="0" anchor="ctr"/>
          <a:lstStyle/>
          <a:p>
            <a:pPr indent="0" marL="0">
              <a:buNone/>
            </a:pPr>
            <a:r>
              <a:rPr lang="en-US" sz="1300" b="1" dirty="0">
                <a:solidFill>
                  <a:srgbClr val="DDD8CC"/>
                </a:solidFill>
                <a:latin typeface="Georgia" pitchFamily="34" charset="0"/>
                <a:ea typeface="Georgia" pitchFamily="34" charset="-122"/>
                <a:cs typeface="Georgia" pitchFamily="34" charset="-120"/>
              </a:rPr>
              <a:t>Head of Media &amp; Inst. BD</a:t>
            </a:r>
            <a:endParaRPr lang="en-US" sz="1300" dirty="0"/>
          </a:p>
        </p:txBody>
      </p:sp>
      <p:sp>
        <p:nvSpPr>
          <p:cNvPr id="14" name="Shape 12"/>
          <p:cNvSpPr/>
          <p:nvPr/>
        </p:nvSpPr>
        <p:spPr>
          <a:xfrm>
            <a:off x="6126480" y="3931920"/>
            <a:ext cx="2651760" cy="868680"/>
          </a:xfrm>
          <a:prstGeom prst="rect">
            <a:avLst/>
          </a:prstGeom>
          <a:solidFill>
            <a:srgbClr val="1C1C19"/>
          </a:solidFill>
          <a:ln w="12700">
            <a:solidFill>
              <a:srgbClr val="2A2A26"/>
            </a:solidFill>
            <a:prstDash val="solid"/>
          </a:ln>
        </p:spPr>
      </p:sp>
      <p:sp>
        <p:nvSpPr>
          <p:cNvPr id="15" name="Text 13"/>
          <p:cNvSpPr/>
          <p:nvPr/>
        </p:nvSpPr>
        <p:spPr>
          <a:xfrm>
            <a:off x="6254496" y="4005072"/>
            <a:ext cx="2377440" cy="201168"/>
          </a:xfrm>
          <a:prstGeom prst="rect">
            <a:avLst/>
          </a:prstGeom>
          <a:noFill/>
          <a:ln/>
        </p:spPr>
        <p:txBody>
          <a:bodyPr wrap="square" lIns="0" tIns="0" rIns="0" bIns="0" rtlCol="0" anchor="ctr"/>
          <a:lstStyle/>
          <a:p>
            <a:pPr indent="0" marL="0">
              <a:buNone/>
            </a:pPr>
            <a:r>
              <a:rPr lang="en-US" sz="800" b="1" spc="200" kern="0" dirty="0">
                <a:solidFill>
                  <a:srgbClr val="C9920D"/>
                </a:solidFill>
                <a:latin typeface="Consolas" pitchFamily="34" charset="0"/>
                <a:ea typeface="Consolas" pitchFamily="34" charset="-122"/>
                <a:cs typeface="Consolas" pitchFamily="34" charset="-120"/>
              </a:rPr>
              <a:t>DATE</a:t>
            </a:r>
            <a:endParaRPr lang="en-US" sz="800" dirty="0"/>
          </a:p>
        </p:txBody>
      </p:sp>
      <p:sp>
        <p:nvSpPr>
          <p:cNvPr id="16" name="Text 14"/>
          <p:cNvSpPr/>
          <p:nvPr/>
        </p:nvSpPr>
        <p:spPr>
          <a:xfrm>
            <a:off x="6254496" y="4224528"/>
            <a:ext cx="2377440" cy="475488"/>
          </a:xfrm>
          <a:prstGeom prst="rect">
            <a:avLst/>
          </a:prstGeom>
          <a:noFill/>
          <a:ln/>
        </p:spPr>
        <p:txBody>
          <a:bodyPr wrap="square" lIns="0" tIns="0" rIns="0" bIns="0" rtlCol="0" anchor="ctr"/>
          <a:lstStyle/>
          <a:p>
            <a:pPr indent="0" marL="0">
              <a:buNone/>
            </a:pPr>
            <a:r>
              <a:rPr lang="en-US" sz="1300" b="1" dirty="0">
                <a:solidFill>
                  <a:srgbClr val="DDD8CC"/>
                </a:solidFill>
                <a:latin typeface="Georgia" pitchFamily="34" charset="0"/>
                <a:ea typeface="Georgia" pitchFamily="34" charset="-122"/>
                <a:cs typeface="Georgia" pitchFamily="34" charset="-120"/>
              </a:rPr>
              <a:t>Mon/Tue, March 2026</a:t>
            </a:r>
            <a:endParaRPr lang="en-US" sz="1300" dirty="0"/>
          </a:p>
        </p:txBody>
      </p:sp>
      <p:sp>
        <p:nvSpPr>
          <p:cNvPr id="17" name="Shape 15"/>
          <p:cNvSpPr/>
          <p:nvPr/>
        </p:nvSpPr>
        <p:spPr>
          <a:xfrm>
            <a:off x="8961120" y="3931920"/>
            <a:ext cx="2651760" cy="868680"/>
          </a:xfrm>
          <a:prstGeom prst="rect">
            <a:avLst/>
          </a:prstGeom>
          <a:solidFill>
            <a:srgbClr val="1C1C19"/>
          </a:solidFill>
          <a:ln w="12700">
            <a:solidFill>
              <a:srgbClr val="2A2A26"/>
            </a:solidFill>
            <a:prstDash val="solid"/>
          </a:ln>
        </p:spPr>
      </p:sp>
      <p:sp>
        <p:nvSpPr>
          <p:cNvPr id="18" name="Text 16"/>
          <p:cNvSpPr/>
          <p:nvPr/>
        </p:nvSpPr>
        <p:spPr>
          <a:xfrm>
            <a:off x="9089136" y="4005072"/>
            <a:ext cx="2377440" cy="201168"/>
          </a:xfrm>
          <a:prstGeom prst="rect">
            <a:avLst/>
          </a:prstGeom>
          <a:noFill/>
          <a:ln/>
        </p:spPr>
        <p:txBody>
          <a:bodyPr wrap="square" lIns="0" tIns="0" rIns="0" bIns="0" rtlCol="0" anchor="ctr"/>
          <a:lstStyle/>
          <a:p>
            <a:pPr indent="0" marL="0">
              <a:buNone/>
            </a:pPr>
            <a:r>
              <a:rPr lang="en-US" sz="800" b="1" spc="200" kern="0" dirty="0">
                <a:solidFill>
                  <a:srgbClr val="C9920D"/>
                </a:solidFill>
                <a:latin typeface="Consolas" pitchFamily="34" charset="0"/>
                <a:ea typeface="Consolas" pitchFamily="34" charset="-122"/>
                <a:cs typeface="Consolas" pitchFamily="34" charset="-120"/>
              </a:rPr>
              <a:t>CLASSIFICATION</a:t>
            </a:r>
            <a:endParaRPr lang="en-US" sz="800" dirty="0"/>
          </a:p>
        </p:txBody>
      </p:sp>
      <p:sp>
        <p:nvSpPr>
          <p:cNvPr id="19" name="Text 17"/>
          <p:cNvSpPr/>
          <p:nvPr/>
        </p:nvSpPr>
        <p:spPr>
          <a:xfrm>
            <a:off x="9089136" y="4224528"/>
            <a:ext cx="2377440" cy="475488"/>
          </a:xfrm>
          <a:prstGeom prst="rect">
            <a:avLst/>
          </a:prstGeom>
          <a:noFill/>
          <a:ln/>
        </p:spPr>
        <p:txBody>
          <a:bodyPr wrap="square" lIns="0" tIns="0" rIns="0" bIns="0" rtlCol="0" anchor="ctr"/>
          <a:lstStyle/>
          <a:p>
            <a:pPr indent="0" marL="0">
              <a:buNone/>
            </a:pPr>
            <a:r>
              <a:rPr lang="en-US" sz="1300" b="1" dirty="0">
                <a:solidFill>
                  <a:srgbClr val="DDD8CC"/>
                </a:solidFill>
                <a:latin typeface="Georgia" pitchFamily="34" charset="0"/>
                <a:ea typeface="Georgia" pitchFamily="34" charset="-122"/>
                <a:cs typeface="Georgia" pitchFamily="34" charset="-120"/>
              </a:rPr>
              <a:t>Confidential</a:t>
            </a:r>
            <a:endParaRPr lang="en-US" sz="1300" dirty="0"/>
          </a:p>
        </p:txBody>
      </p:sp>
      <p:sp>
        <p:nvSpPr>
          <p:cNvPr id="20" name="Shape 18"/>
          <p:cNvSpPr/>
          <p:nvPr/>
        </p:nvSpPr>
        <p:spPr>
          <a:xfrm>
            <a:off x="457200" y="5074920"/>
            <a:ext cx="11247120" cy="1417320"/>
          </a:xfrm>
          <a:prstGeom prst="rect">
            <a:avLst/>
          </a:prstGeom>
          <a:solidFill>
            <a:srgbClr val="2A2416"/>
          </a:solidFill>
          <a:ln w="12700">
            <a:solidFill>
              <a:srgbClr val="C9920D"/>
            </a:solidFill>
            <a:prstDash val="solid"/>
          </a:ln>
        </p:spPr>
      </p:sp>
      <p:sp>
        <p:nvSpPr>
          <p:cNvPr id="21" name="Shape 19"/>
          <p:cNvSpPr/>
          <p:nvPr/>
        </p:nvSpPr>
        <p:spPr>
          <a:xfrm>
            <a:off x="457200" y="5074920"/>
            <a:ext cx="11247120" cy="36576"/>
          </a:xfrm>
          <a:prstGeom prst="rect">
            <a:avLst/>
          </a:prstGeom>
          <a:solidFill>
            <a:srgbClr val="C9920D"/>
          </a:solidFill>
          <a:ln w="12700">
            <a:solidFill>
              <a:srgbClr val="C9920D"/>
            </a:solidFill>
            <a:prstDash val="solid"/>
          </a:ln>
        </p:spPr>
      </p:sp>
      <p:sp>
        <p:nvSpPr>
          <p:cNvPr id="22" name="Text 20"/>
          <p:cNvSpPr/>
          <p:nvPr/>
        </p:nvSpPr>
        <p:spPr>
          <a:xfrm>
            <a:off x="640080" y="5138928"/>
            <a:ext cx="5486400" cy="228600"/>
          </a:xfrm>
          <a:prstGeom prst="rect">
            <a:avLst/>
          </a:prstGeom>
          <a:noFill/>
          <a:ln/>
        </p:spPr>
        <p:txBody>
          <a:bodyPr wrap="square" lIns="0" tIns="0" rIns="0" bIns="0" rtlCol="0" anchor="ctr"/>
          <a:lstStyle/>
          <a:p>
            <a:pPr indent="0" marL="0">
              <a:buNone/>
            </a:pPr>
            <a:r>
              <a:rPr lang="en-US" sz="900" b="1" spc="300" kern="0" dirty="0">
                <a:solidFill>
                  <a:srgbClr val="C9920D"/>
                </a:solidFill>
                <a:latin typeface="Consolas" pitchFamily="34" charset="0"/>
                <a:ea typeface="Consolas" pitchFamily="34" charset="-122"/>
                <a:cs typeface="Consolas" pitchFamily="34" charset="-120"/>
              </a:rPr>
              <a:t>THE THREE ASKS — NOTHING ELSE</a:t>
            </a:r>
            <a:endParaRPr lang="en-US" sz="900" dirty="0"/>
          </a:p>
        </p:txBody>
      </p:sp>
      <p:sp>
        <p:nvSpPr>
          <p:cNvPr id="23" name="Text 21"/>
          <p:cNvSpPr/>
          <p:nvPr/>
        </p:nvSpPr>
        <p:spPr>
          <a:xfrm>
            <a:off x="640080" y="5440680"/>
            <a:ext cx="10789920" cy="237744"/>
          </a:xfrm>
          <a:prstGeom prst="rect">
            <a:avLst/>
          </a:prstGeom>
          <a:noFill/>
          <a:ln/>
        </p:spPr>
        <p:txBody>
          <a:bodyPr wrap="square" lIns="0" tIns="0" rIns="0" bIns="0" rtlCol="0" anchor="ctr"/>
          <a:lstStyle/>
          <a:p>
            <a:pPr indent="0" marL="0">
              <a:buNone/>
            </a:pPr>
            <a:r>
              <a:rPr lang="en-US" sz="1300" dirty="0">
                <a:solidFill>
                  <a:srgbClr val="DDD8CC"/>
                </a:solidFill>
                <a:latin typeface="Georgia" pitchFamily="34" charset="0"/>
                <a:ea typeface="Georgia" pitchFamily="34" charset="-122"/>
                <a:cs typeface="Georgia" pitchFamily="34" charset="-120"/>
              </a:rPr>
              <a:t>① Public price feed access as settlement oracle</a:t>
            </a:r>
            <a:endParaRPr lang="en-US" sz="1300" dirty="0"/>
          </a:p>
        </p:txBody>
      </p:sp>
      <p:sp>
        <p:nvSpPr>
          <p:cNvPr id="24" name="Text 22"/>
          <p:cNvSpPr/>
          <p:nvPr/>
        </p:nvSpPr>
        <p:spPr>
          <a:xfrm>
            <a:off x="640080" y="5687568"/>
            <a:ext cx="10789920" cy="237744"/>
          </a:xfrm>
          <a:prstGeom prst="rect">
            <a:avLst/>
          </a:prstGeom>
          <a:noFill/>
          <a:ln/>
        </p:spPr>
        <p:txBody>
          <a:bodyPr wrap="square" lIns="0" tIns="0" rIns="0" bIns="0" rtlCol="0" anchor="ctr"/>
          <a:lstStyle/>
          <a:p>
            <a:pPr indent="0" marL="0">
              <a:buNone/>
            </a:pPr>
            <a:r>
              <a:rPr lang="en-US" sz="1300" dirty="0">
                <a:solidFill>
                  <a:srgbClr val="DDD8CC"/>
                </a:solidFill>
                <a:latin typeface="Georgia" pitchFamily="34" charset="0"/>
                <a:ea typeface="Georgia" pitchFamily="34" charset="-122"/>
                <a:cs typeface="Georgia" pitchFamily="34" charset="-120"/>
              </a:rPr>
              <a:t>② Permission to link back to Kitco articles</a:t>
            </a:r>
            <a:endParaRPr lang="en-US" sz="1300" dirty="0"/>
          </a:p>
        </p:txBody>
      </p:sp>
      <p:sp>
        <p:nvSpPr>
          <p:cNvPr id="25" name="Text 23"/>
          <p:cNvSpPr/>
          <p:nvPr/>
        </p:nvSpPr>
        <p:spPr>
          <a:xfrm>
            <a:off x="640080" y="5934456"/>
            <a:ext cx="10789920" cy="237744"/>
          </a:xfrm>
          <a:prstGeom prst="rect">
            <a:avLst/>
          </a:prstGeom>
          <a:noFill/>
          <a:ln/>
        </p:spPr>
        <p:txBody>
          <a:bodyPr wrap="square" lIns="0" tIns="0" rIns="0" bIns="0" rtlCol="0" anchor="ctr"/>
          <a:lstStyle/>
          <a:p>
            <a:pPr indent="0" marL="0">
              <a:buNone/>
            </a:pPr>
            <a:r>
              <a:rPr lang="en-US" sz="1300" dirty="0">
                <a:solidFill>
                  <a:srgbClr val="DDD8CC"/>
                </a:solidFill>
                <a:latin typeface="Georgia" pitchFamily="34" charset="0"/>
                <a:ea typeface="Georgia" pitchFamily="34" charset="-122"/>
                <a:cs typeface="Georgia" pitchFamily="34" charset="-120"/>
              </a:rPr>
              <a:t>③ Preferred oracle status for Kitco price data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2"/>
        </a:solidFill>
      </p:bgPr>
    </p:bg>
    <p:spTree>
      <p:nvGrpSpPr>
        <p:cNvPr id="1" name=""/>
        <p:cNvGrpSpPr/>
        <p:nvPr/>
      </p:nvGrpSpPr>
      <p:grpSpPr>
        <a:xfrm>
          <a:off x="0" y="0"/>
          <a:ext cx="0" cy="0"/>
          <a:chOff x="0" y="0"/>
          <a:chExt cx="0" cy="0"/>
        </a:xfrm>
      </p:grpSpPr>
      <p:sp>
        <p:nvSpPr>
          <p:cNvPr id="2" name="Shape 0"/>
          <p:cNvSpPr/>
          <p:nvPr/>
        </p:nvSpPr>
        <p:spPr>
          <a:xfrm>
            <a:off x="457200" y="274320"/>
            <a:ext cx="2011680" cy="274320"/>
          </a:xfrm>
          <a:prstGeom prst="rect">
            <a:avLst/>
          </a:prstGeom>
          <a:solidFill>
            <a:srgbClr val="C9920D"/>
          </a:solidFill>
          <a:ln w="12700">
            <a:solidFill>
              <a:srgbClr val="C9920D"/>
            </a:solidFill>
            <a:prstDash val="solid"/>
          </a:ln>
        </p:spPr>
      </p:sp>
      <p:sp>
        <p:nvSpPr>
          <p:cNvPr id="3" name="Text 1"/>
          <p:cNvSpPr/>
          <p:nvPr/>
        </p:nvSpPr>
        <p:spPr>
          <a:xfrm>
            <a:off x="457200" y="274320"/>
            <a:ext cx="2011680" cy="274320"/>
          </a:xfrm>
          <a:prstGeom prst="rect">
            <a:avLst/>
          </a:prstGeom>
          <a:noFill/>
          <a:ln/>
        </p:spPr>
        <p:txBody>
          <a:bodyPr wrap="square" lIns="0" tIns="0" rIns="0" bIns="0" rtlCol="0" anchor="ctr"/>
          <a:lstStyle/>
          <a:p>
            <a:pPr algn="ctr" indent="0" marL="0">
              <a:buNone/>
            </a:pPr>
            <a:r>
              <a:rPr lang="en-US" sz="900" b="1" spc="200" kern="0" dirty="0">
                <a:solidFill>
                  <a:srgbClr val="0E0E0C"/>
                </a:solidFill>
                <a:latin typeface="Consolas" pitchFamily="34" charset="0"/>
                <a:ea typeface="Consolas" pitchFamily="34" charset="-122"/>
                <a:cs typeface="Consolas" pitchFamily="34" charset="-120"/>
              </a:rPr>
              <a:t>SECTION 01</a:t>
            </a:r>
            <a:endParaRPr lang="en-US" sz="900" dirty="0"/>
          </a:p>
        </p:txBody>
      </p:sp>
      <p:sp>
        <p:nvSpPr>
          <p:cNvPr id="4" name="Text 2"/>
          <p:cNvSpPr/>
          <p:nvPr/>
        </p:nvSpPr>
        <p:spPr>
          <a:xfrm>
            <a:off x="457200" y="658368"/>
            <a:ext cx="9144000" cy="594360"/>
          </a:xfrm>
          <a:prstGeom prst="rect">
            <a:avLst/>
          </a:prstGeom>
          <a:noFill/>
          <a:ln/>
        </p:spPr>
        <p:txBody>
          <a:bodyPr wrap="square" lIns="0" tIns="0" rIns="0" bIns="0" rtlCol="0" anchor="ctr"/>
          <a:lstStyle/>
          <a:p>
            <a:pPr indent="0" marL="0">
              <a:buNone/>
            </a:pPr>
            <a:r>
              <a:rPr lang="en-US" sz="3800" b="1" dirty="0">
                <a:solidFill>
                  <a:srgbClr val="DDD8CC"/>
                </a:solidFill>
                <a:latin typeface="Georgia" pitchFamily="34" charset="0"/>
                <a:ea typeface="Georgia" pitchFamily="34" charset="-122"/>
                <a:cs typeface="Georgia" pitchFamily="34" charset="-120"/>
              </a:rPr>
              <a:t>The Opener</a:t>
            </a:r>
            <a:endParaRPr lang="en-US" sz="3800" dirty="0"/>
          </a:p>
        </p:txBody>
      </p:sp>
      <p:sp>
        <p:nvSpPr>
          <p:cNvPr id="5" name="Text 3"/>
          <p:cNvSpPr/>
          <p:nvPr/>
        </p:nvSpPr>
        <p:spPr>
          <a:xfrm>
            <a:off x="457200" y="1280160"/>
            <a:ext cx="10972800" cy="274320"/>
          </a:xfrm>
          <a:prstGeom prst="rect">
            <a:avLst/>
          </a:prstGeom>
          <a:noFill/>
          <a:ln/>
        </p:spPr>
        <p:txBody>
          <a:bodyPr wrap="square" lIns="0" tIns="0" rIns="0" bIns="0" rtlCol="0" anchor="ctr"/>
          <a:lstStyle/>
          <a:p>
            <a:pPr indent="0" marL="0">
              <a:buNone/>
            </a:pPr>
            <a:r>
              <a:rPr lang="en-US" sz="1200" spc="100" kern="0" dirty="0">
                <a:solidFill>
                  <a:srgbClr val="7A7870"/>
                </a:solidFill>
                <a:latin typeface="Consolas" pitchFamily="34" charset="0"/>
                <a:ea typeface="Consolas" pitchFamily="34" charset="-122"/>
                <a:cs typeface="Consolas" pitchFamily="34" charset="-120"/>
              </a:rPr>
              <a:t>What is HYPERFLEX?  ·  Why prediction markets?  ·  Who are you?</a:t>
            </a:r>
            <a:endParaRPr lang="en-US" sz="1200" dirty="0"/>
          </a:p>
        </p:txBody>
      </p:sp>
      <p:sp>
        <p:nvSpPr>
          <p:cNvPr id="6" name="Shape 4"/>
          <p:cNvSpPr/>
          <p:nvPr/>
        </p:nvSpPr>
        <p:spPr>
          <a:xfrm>
            <a:off x="457200" y="1737360"/>
            <a:ext cx="11247120" cy="2011680"/>
          </a:xfrm>
          <a:prstGeom prst="rect">
            <a:avLst/>
          </a:prstGeom>
          <a:solidFill>
            <a:srgbClr val="1C1C19"/>
          </a:solidFill>
          <a:ln w="12700">
            <a:solidFill>
              <a:srgbClr val="2A2A26"/>
            </a:solidFill>
            <a:prstDash val="solid"/>
          </a:ln>
        </p:spPr>
      </p:sp>
      <p:sp>
        <p:nvSpPr>
          <p:cNvPr id="7" name="Shape 5"/>
          <p:cNvSpPr/>
          <p:nvPr/>
        </p:nvSpPr>
        <p:spPr>
          <a:xfrm>
            <a:off x="457200" y="1737360"/>
            <a:ext cx="64008" cy="2011680"/>
          </a:xfrm>
          <a:prstGeom prst="rect">
            <a:avLst/>
          </a:prstGeom>
          <a:solidFill>
            <a:srgbClr val="2D9B5F"/>
          </a:solidFill>
          <a:ln w="12700">
            <a:solidFill>
              <a:srgbClr val="2D9B5F"/>
            </a:solidFill>
            <a:prstDash val="solid"/>
          </a:ln>
        </p:spPr>
      </p:sp>
      <p:sp>
        <p:nvSpPr>
          <p:cNvPr id="8" name="Shape 6"/>
          <p:cNvSpPr/>
          <p:nvPr/>
        </p:nvSpPr>
        <p:spPr>
          <a:xfrm>
            <a:off x="640080" y="1847088"/>
            <a:ext cx="1005840" cy="219456"/>
          </a:xfrm>
          <a:prstGeom prst="rect">
            <a:avLst/>
          </a:prstGeom>
          <a:solidFill>
            <a:srgbClr val="0F2A1A"/>
          </a:solidFill>
          <a:ln w="12700">
            <a:solidFill>
              <a:srgbClr val="2D9B5F"/>
            </a:solidFill>
            <a:prstDash val="solid"/>
          </a:ln>
        </p:spPr>
      </p:sp>
      <p:sp>
        <p:nvSpPr>
          <p:cNvPr id="9" name="Text 7"/>
          <p:cNvSpPr/>
          <p:nvPr/>
        </p:nvSpPr>
        <p:spPr>
          <a:xfrm>
            <a:off x="640080" y="1847088"/>
            <a:ext cx="1005840" cy="219456"/>
          </a:xfrm>
          <a:prstGeom prst="rect">
            <a:avLst/>
          </a:prstGeom>
          <a:noFill/>
          <a:ln/>
        </p:spPr>
        <p:txBody>
          <a:bodyPr wrap="square" lIns="0" tIns="0" rIns="0" bIns="0" rtlCol="0" anchor="ctr"/>
          <a:lstStyle/>
          <a:p>
            <a:pPr algn="ctr" indent="0" marL="0">
              <a:buNone/>
            </a:pPr>
            <a:r>
              <a:rPr lang="en-US" sz="800" b="1" spc="100" kern="0" dirty="0">
                <a:solidFill>
                  <a:srgbClr val="2D9B5F"/>
                </a:solidFill>
                <a:latin typeface="Consolas" pitchFamily="34" charset="0"/>
                <a:ea typeface="Consolas" pitchFamily="34" charset="-122"/>
                <a:cs typeface="Consolas" pitchFamily="34" charset="-120"/>
              </a:rPr>
              <a:t>FRIENDLY</a:t>
            </a:r>
            <a:endParaRPr lang="en-US" sz="800" dirty="0"/>
          </a:p>
        </p:txBody>
      </p:sp>
      <p:sp>
        <p:nvSpPr>
          <p:cNvPr id="10" name="Text 8"/>
          <p:cNvSpPr/>
          <p:nvPr/>
        </p:nvSpPr>
        <p:spPr>
          <a:xfrm>
            <a:off x="1828800" y="1847088"/>
            <a:ext cx="9692640" cy="274320"/>
          </a:xfrm>
          <a:prstGeom prst="rect">
            <a:avLst/>
          </a:prstGeom>
          <a:noFill/>
          <a:ln/>
        </p:spPr>
        <p:txBody>
          <a:bodyPr wrap="square" lIns="0" tIns="0" rIns="0" bIns="0" rtlCol="0" anchor="ctr"/>
          <a:lstStyle/>
          <a:p>
            <a:pPr indent="0" marL="0">
              <a:buNone/>
            </a:pPr>
            <a:r>
              <a:rPr lang="en-US" sz="1300" b="1" dirty="0">
                <a:solidFill>
                  <a:srgbClr val="DDD8CC"/>
                </a:solidFill>
                <a:latin typeface="Georgia" pitchFamily="34" charset="0"/>
                <a:ea typeface="Georgia" pitchFamily="34" charset="-122"/>
                <a:cs typeface="Georgia" pitchFamily="34" charset="-120"/>
              </a:rPr>
              <a:t>Q: So what exactly is HYPERFLEX?</a:t>
            </a:r>
            <a:endParaRPr lang="en-US" sz="1300" dirty="0"/>
          </a:p>
        </p:txBody>
      </p:sp>
      <p:sp>
        <p:nvSpPr>
          <p:cNvPr id="11" name="Text 9"/>
          <p:cNvSpPr/>
          <p:nvPr/>
        </p:nvSpPr>
        <p:spPr>
          <a:xfrm>
            <a:off x="640080" y="2212848"/>
            <a:ext cx="10972800" cy="1005840"/>
          </a:xfrm>
          <a:prstGeom prst="rect">
            <a:avLst/>
          </a:prstGeom>
          <a:noFill/>
          <a:ln/>
        </p:spPr>
        <p:txBody>
          <a:bodyPr wrap="square" lIns="0" tIns="0" rIns="0" bIns="0" rtlCol="0" anchor="ctr"/>
          <a:lstStyle/>
          <a:p>
            <a:pPr indent="0" marL="0">
              <a:buNone/>
            </a:pPr>
            <a:r>
              <a:rPr lang="en-US" sz="1200" dirty="0">
                <a:solidFill>
                  <a:srgbClr val="DDD8CC"/>
                </a:solidFill>
                <a:latin typeface="Calibri" pitchFamily="34" charset="0"/>
                <a:ea typeface="Calibri" pitchFamily="34" charset="-122"/>
                <a:cs typeface="Calibri" pitchFamily="34" charset="-120"/>
              </a:rPr>
              <a:t>HYPERFLEX is a prediction market platform for commodities and financial events. Users trade YES or NO contracts on real-world outcomes — will gold hit $6,000, will oil breach $100, will the Fed cut rates. Contracts settle at $1.00 if correct. Everything clears on-chain with no gas fees.</a:t>
            </a:r>
            <a:endParaRPr lang="en-US" sz="1200" dirty="0"/>
          </a:p>
        </p:txBody>
      </p:sp>
      <p:sp>
        <p:nvSpPr>
          <p:cNvPr id="12" name="Shape 10"/>
          <p:cNvSpPr/>
          <p:nvPr/>
        </p:nvSpPr>
        <p:spPr>
          <a:xfrm>
            <a:off x="640080" y="3291840"/>
            <a:ext cx="10972800" cy="292608"/>
          </a:xfrm>
          <a:prstGeom prst="rect">
            <a:avLst/>
          </a:prstGeom>
          <a:solidFill>
            <a:srgbClr val="2A2416"/>
          </a:solidFill>
          <a:ln w="12700">
            <a:solidFill>
              <a:srgbClr val="2A2416"/>
            </a:solidFill>
            <a:prstDash val="solid"/>
          </a:ln>
        </p:spPr>
      </p:sp>
      <p:sp>
        <p:nvSpPr>
          <p:cNvPr id="13" name="Text 11"/>
          <p:cNvSpPr/>
          <p:nvPr/>
        </p:nvSpPr>
        <p:spPr>
          <a:xfrm>
            <a:off x="777240" y="3310128"/>
            <a:ext cx="10698480" cy="237744"/>
          </a:xfrm>
          <a:prstGeom prst="rect">
            <a:avLst/>
          </a:prstGeom>
          <a:noFill/>
          <a:ln/>
        </p:spPr>
        <p:txBody>
          <a:bodyPr wrap="square" lIns="0" tIns="0" rIns="0" bIns="0" rtlCol="0" anchor="ctr"/>
          <a:lstStyle/>
          <a:p>
            <a:pPr indent="0" marL="0">
              <a:buNone/>
            </a:pPr>
            <a:r>
              <a:rPr lang="en-US" sz="1000" i="1" dirty="0">
                <a:solidFill>
                  <a:srgbClr val="C9920D"/>
                </a:solidFill>
                <a:latin typeface="Consolas" pitchFamily="34" charset="0"/>
                <a:ea typeface="Consolas" pitchFamily="34" charset="-122"/>
                <a:cs typeface="Consolas" pitchFamily="34" charset="-120"/>
              </a:rPr>
              <a:t>▸  3 sentences max. Don't say blockchain. Don't say AI.</a:t>
            </a:r>
            <a:endParaRPr lang="en-US" sz="1000" dirty="0"/>
          </a:p>
        </p:txBody>
      </p:sp>
      <p:sp>
        <p:nvSpPr>
          <p:cNvPr id="14" name="Shape 12"/>
          <p:cNvSpPr/>
          <p:nvPr/>
        </p:nvSpPr>
        <p:spPr>
          <a:xfrm>
            <a:off x="457200" y="3977640"/>
            <a:ext cx="11247120" cy="2011680"/>
          </a:xfrm>
          <a:prstGeom prst="rect">
            <a:avLst/>
          </a:prstGeom>
          <a:solidFill>
            <a:srgbClr val="1C1C19"/>
          </a:solidFill>
          <a:ln w="12700">
            <a:solidFill>
              <a:srgbClr val="2A2A26"/>
            </a:solidFill>
            <a:prstDash val="solid"/>
          </a:ln>
        </p:spPr>
      </p:sp>
      <p:sp>
        <p:nvSpPr>
          <p:cNvPr id="15" name="Shape 13"/>
          <p:cNvSpPr/>
          <p:nvPr/>
        </p:nvSpPr>
        <p:spPr>
          <a:xfrm>
            <a:off x="457200" y="3977640"/>
            <a:ext cx="64008" cy="2011680"/>
          </a:xfrm>
          <a:prstGeom prst="rect">
            <a:avLst/>
          </a:prstGeom>
          <a:solidFill>
            <a:srgbClr val="2D9B5F"/>
          </a:solidFill>
          <a:ln w="12700">
            <a:solidFill>
              <a:srgbClr val="2D9B5F"/>
            </a:solidFill>
            <a:prstDash val="solid"/>
          </a:ln>
        </p:spPr>
      </p:sp>
      <p:sp>
        <p:nvSpPr>
          <p:cNvPr id="16" name="Shape 14"/>
          <p:cNvSpPr/>
          <p:nvPr/>
        </p:nvSpPr>
        <p:spPr>
          <a:xfrm>
            <a:off x="640080" y="4087368"/>
            <a:ext cx="1005840" cy="219456"/>
          </a:xfrm>
          <a:prstGeom prst="rect">
            <a:avLst/>
          </a:prstGeom>
          <a:solidFill>
            <a:srgbClr val="0F2A1A"/>
          </a:solidFill>
          <a:ln w="12700">
            <a:solidFill>
              <a:srgbClr val="2D9B5F"/>
            </a:solidFill>
            <a:prstDash val="solid"/>
          </a:ln>
        </p:spPr>
      </p:sp>
      <p:sp>
        <p:nvSpPr>
          <p:cNvPr id="17" name="Text 15"/>
          <p:cNvSpPr/>
          <p:nvPr/>
        </p:nvSpPr>
        <p:spPr>
          <a:xfrm>
            <a:off x="640080" y="4087368"/>
            <a:ext cx="1005840" cy="219456"/>
          </a:xfrm>
          <a:prstGeom prst="rect">
            <a:avLst/>
          </a:prstGeom>
          <a:noFill/>
          <a:ln/>
        </p:spPr>
        <p:txBody>
          <a:bodyPr wrap="square" lIns="0" tIns="0" rIns="0" bIns="0" rtlCol="0" anchor="ctr"/>
          <a:lstStyle/>
          <a:p>
            <a:pPr algn="ctr" indent="0" marL="0">
              <a:buNone/>
            </a:pPr>
            <a:r>
              <a:rPr lang="en-US" sz="800" b="1" spc="100" kern="0" dirty="0">
                <a:solidFill>
                  <a:srgbClr val="2D9B5F"/>
                </a:solidFill>
                <a:latin typeface="Consolas" pitchFamily="34" charset="0"/>
                <a:ea typeface="Consolas" pitchFamily="34" charset="-122"/>
                <a:cs typeface="Consolas" pitchFamily="34" charset="-120"/>
              </a:rPr>
              <a:t>FRIENDLY</a:t>
            </a:r>
            <a:endParaRPr lang="en-US" sz="800" dirty="0"/>
          </a:p>
        </p:txBody>
      </p:sp>
      <p:sp>
        <p:nvSpPr>
          <p:cNvPr id="18" name="Text 16"/>
          <p:cNvSpPr/>
          <p:nvPr/>
        </p:nvSpPr>
        <p:spPr>
          <a:xfrm>
            <a:off x="1828800" y="4087368"/>
            <a:ext cx="9692640" cy="274320"/>
          </a:xfrm>
          <a:prstGeom prst="rect">
            <a:avLst/>
          </a:prstGeom>
          <a:noFill/>
          <a:ln/>
        </p:spPr>
        <p:txBody>
          <a:bodyPr wrap="square" lIns="0" tIns="0" rIns="0" bIns="0" rtlCol="0" anchor="ctr"/>
          <a:lstStyle/>
          <a:p>
            <a:pPr indent="0" marL="0">
              <a:buNone/>
            </a:pPr>
            <a:r>
              <a:rPr lang="en-US" sz="1300" b="1" dirty="0">
                <a:solidFill>
                  <a:srgbClr val="DDD8CC"/>
                </a:solidFill>
                <a:latin typeface="Georgia" pitchFamily="34" charset="0"/>
                <a:ea typeface="Georgia" pitchFamily="34" charset="-122"/>
                <a:cs typeface="Georgia" pitchFamily="34" charset="-120"/>
              </a:rPr>
              <a:t>Q: Who built this? What's your background?</a:t>
            </a:r>
            <a:endParaRPr lang="en-US" sz="1300" dirty="0"/>
          </a:p>
        </p:txBody>
      </p:sp>
      <p:sp>
        <p:nvSpPr>
          <p:cNvPr id="19" name="Text 17"/>
          <p:cNvSpPr/>
          <p:nvPr/>
        </p:nvSpPr>
        <p:spPr>
          <a:xfrm>
            <a:off x="640080" y="4453128"/>
            <a:ext cx="10972800" cy="1005840"/>
          </a:xfrm>
          <a:prstGeom prst="rect">
            <a:avLst/>
          </a:prstGeom>
          <a:noFill/>
          <a:ln/>
        </p:spPr>
        <p:txBody>
          <a:bodyPr wrap="square" lIns="0" tIns="0" rIns="0" bIns="0" rtlCol="0" anchor="ctr"/>
          <a:lstStyle/>
          <a:p>
            <a:pPr indent="0" marL="0">
              <a:buNone/>
            </a:pPr>
            <a:r>
              <a:rPr lang="en-US" sz="1200" dirty="0">
                <a:solidFill>
                  <a:srgbClr val="DDD8CC"/>
                </a:solidFill>
                <a:latin typeface="Calibri" pitchFamily="34" charset="0"/>
                <a:ea typeface="Calibri" pitchFamily="34" charset="-122"/>
                <a:cs typeface="Calibri" pitchFamily="34" charset="-120"/>
              </a:rPr>
              <a:t>I've spent years following commodity markets — particularly silver and gold. I saw a gap: 10 million people read Kitco monthly, they have strong price convictions, and there's nowhere to put real money behind those convictions. I built HYPERFLEX to close that gap.</a:t>
            </a:r>
            <a:endParaRPr lang="en-US" sz="1200" dirty="0"/>
          </a:p>
        </p:txBody>
      </p:sp>
      <p:sp>
        <p:nvSpPr>
          <p:cNvPr id="20" name="Shape 18"/>
          <p:cNvSpPr/>
          <p:nvPr/>
        </p:nvSpPr>
        <p:spPr>
          <a:xfrm>
            <a:off x="640080" y="5532120"/>
            <a:ext cx="10972800" cy="292608"/>
          </a:xfrm>
          <a:prstGeom prst="rect">
            <a:avLst/>
          </a:prstGeom>
          <a:solidFill>
            <a:srgbClr val="2A2416"/>
          </a:solidFill>
          <a:ln w="12700">
            <a:solidFill>
              <a:srgbClr val="2A2416"/>
            </a:solidFill>
            <a:prstDash val="solid"/>
          </a:ln>
        </p:spPr>
      </p:sp>
      <p:sp>
        <p:nvSpPr>
          <p:cNvPr id="21" name="Text 19"/>
          <p:cNvSpPr/>
          <p:nvPr/>
        </p:nvSpPr>
        <p:spPr>
          <a:xfrm>
            <a:off x="777240" y="5550408"/>
            <a:ext cx="10698480" cy="237744"/>
          </a:xfrm>
          <a:prstGeom prst="rect">
            <a:avLst/>
          </a:prstGeom>
          <a:noFill/>
          <a:ln/>
        </p:spPr>
        <p:txBody>
          <a:bodyPr wrap="square" lIns="0" tIns="0" rIns="0" bIns="0" rtlCol="0" anchor="ctr"/>
          <a:lstStyle/>
          <a:p>
            <a:pPr indent="0" marL="0">
              <a:buNone/>
            </a:pPr>
            <a:r>
              <a:rPr lang="en-US" sz="1000" i="1" dirty="0">
                <a:solidFill>
                  <a:srgbClr val="C9920D"/>
                </a:solidFill>
                <a:latin typeface="Consolas" pitchFamily="34" charset="0"/>
                <a:ea typeface="Consolas" pitchFamily="34" charset="-122"/>
                <a:cs typeface="Consolas" pitchFamily="34" charset="-120"/>
              </a:rPr>
              <a:t>▸  Focus on the market gap, not your CV.</a:t>
            </a:r>
            <a:endParaRPr lang="en-US" sz="1000" dirty="0"/>
          </a:p>
        </p:txBody>
      </p:sp>
      <p:sp>
        <p:nvSpPr>
          <p:cNvPr id="22" name="Text 20"/>
          <p:cNvSpPr/>
          <p:nvPr/>
        </p:nvSpPr>
        <p:spPr>
          <a:xfrm>
            <a:off x="365760" y="6492240"/>
            <a:ext cx="2743200" cy="228600"/>
          </a:xfrm>
          <a:prstGeom prst="rect">
            <a:avLst/>
          </a:prstGeom>
          <a:noFill/>
          <a:ln/>
        </p:spPr>
        <p:txBody>
          <a:bodyPr wrap="square" lIns="0" tIns="0" rIns="0" bIns="0" rtlCol="0" anchor="ctr"/>
          <a:lstStyle/>
          <a:p>
            <a:pPr indent="0" marL="0">
              <a:buNone/>
            </a:pPr>
            <a:r>
              <a:rPr lang="en-US" sz="900" b="1" spc="200" kern="0" dirty="0">
                <a:solidFill>
                  <a:srgbClr val="C9920D"/>
                </a:solidFill>
                <a:latin typeface="Consolas" pitchFamily="34" charset="0"/>
                <a:ea typeface="Consolas" pitchFamily="34" charset="-122"/>
                <a:cs typeface="Consolas" pitchFamily="34" charset="-120"/>
              </a:rPr>
              <a:t>◆ HYPERFLEX</a:t>
            </a:r>
            <a:endParaRPr lang="en-US" sz="900" dirty="0"/>
          </a:p>
        </p:txBody>
      </p:sp>
      <p:sp>
        <p:nvSpPr>
          <p:cNvPr id="23" name="Text 21"/>
          <p:cNvSpPr/>
          <p:nvPr/>
        </p:nvSpPr>
        <p:spPr>
          <a:xfrm>
            <a:off x="9052560" y="6492240"/>
            <a:ext cx="2743200" cy="228600"/>
          </a:xfrm>
          <a:prstGeom prst="rect">
            <a:avLst/>
          </a:prstGeom>
          <a:noFill/>
          <a:ln/>
        </p:spPr>
        <p:txBody>
          <a:bodyPr wrap="square" lIns="0" tIns="0" rIns="0" bIns="0" rtlCol="0" anchor="ctr"/>
          <a:lstStyle/>
          <a:p>
            <a:pPr algn="r" indent="0" marL="0">
              <a:buNone/>
            </a:pPr>
            <a:r>
              <a:rPr lang="en-US" sz="800" spc="100" kern="0" dirty="0">
                <a:solidFill>
                  <a:srgbClr val="7A7870"/>
                </a:solidFill>
                <a:latin typeface="Consolas" pitchFamily="34" charset="0"/>
                <a:ea typeface="Consolas" pitchFamily="34" charset="-122"/>
                <a:cs typeface="Consolas" pitchFamily="34" charset="-120"/>
              </a:rPr>
              <a:t>SECTION 01 — THE OPENER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2"/>
        </a:solidFill>
      </p:bgPr>
    </p:bg>
    <p:spTree>
      <p:nvGrpSpPr>
        <p:cNvPr id="1" name=""/>
        <p:cNvGrpSpPr/>
        <p:nvPr/>
      </p:nvGrpSpPr>
      <p:grpSpPr>
        <a:xfrm>
          <a:off x="0" y="0"/>
          <a:ext cx="0" cy="0"/>
          <a:chOff x="0" y="0"/>
          <a:chExt cx="0" cy="0"/>
        </a:xfrm>
      </p:grpSpPr>
      <p:sp>
        <p:nvSpPr>
          <p:cNvPr id="2" name="Shape 0"/>
          <p:cNvSpPr/>
          <p:nvPr/>
        </p:nvSpPr>
        <p:spPr>
          <a:xfrm>
            <a:off x="457200" y="274320"/>
            <a:ext cx="2011680" cy="274320"/>
          </a:xfrm>
          <a:prstGeom prst="rect">
            <a:avLst/>
          </a:prstGeom>
          <a:solidFill>
            <a:srgbClr val="C9920D"/>
          </a:solidFill>
          <a:ln w="12700">
            <a:solidFill>
              <a:srgbClr val="C9920D"/>
            </a:solidFill>
            <a:prstDash val="solid"/>
          </a:ln>
        </p:spPr>
      </p:sp>
      <p:sp>
        <p:nvSpPr>
          <p:cNvPr id="3" name="Text 1"/>
          <p:cNvSpPr/>
          <p:nvPr/>
        </p:nvSpPr>
        <p:spPr>
          <a:xfrm>
            <a:off x="457200" y="274320"/>
            <a:ext cx="2011680" cy="274320"/>
          </a:xfrm>
          <a:prstGeom prst="rect">
            <a:avLst/>
          </a:prstGeom>
          <a:noFill/>
          <a:ln/>
        </p:spPr>
        <p:txBody>
          <a:bodyPr wrap="square" lIns="0" tIns="0" rIns="0" bIns="0" rtlCol="0" anchor="ctr"/>
          <a:lstStyle/>
          <a:p>
            <a:pPr algn="ctr" indent="0" marL="0">
              <a:buNone/>
            </a:pPr>
            <a:r>
              <a:rPr lang="en-US" sz="900" b="1" spc="200" kern="0" dirty="0">
                <a:solidFill>
                  <a:srgbClr val="0E0E0C"/>
                </a:solidFill>
                <a:latin typeface="Consolas" pitchFamily="34" charset="0"/>
                <a:ea typeface="Consolas" pitchFamily="34" charset="-122"/>
                <a:cs typeface="Consolas" pitchFamily="34" charset="-120"/>
              </a:rPr>
              <a:t>SECTION 02</a:t>
            </a:r>
            <a:endParaRPr lang="en-US" sz="900" dirty="0"/>
          </a:p>
        </p:txBody>
      </p:sp>
      <p:sp>
        <p:nvSpPr>
          <p:cNvPr id="4" name="Text 2"/>
          <p:cNvSpPr/>
          <p:nvPr/>
        </p:nvSpPr>
        <p:spPr>
          <a:xfrm>
            <a:off x="457200" y="658368"/>
            <a:ext cx="9144000" cy="594360"/>
          </a:xfrm>
          <a:prstGeom prst="rect">
            <a:avLst/>
          </a:prstGeom>
          <a:noFill/>
          <a:ln/>
        </p:spPr>
        <p:txBody>
          <a:bodyPr wrap="square" lIns="0" tIns="0" rIns="0" bIns="0" rtlCol="0" anchor="ctr"/>
          <a:lstStyle/>
          <a:p>
            <a:pPr indent="0" marL="0">
              <a:buNone/>
            </a:pPr>
            <a:r>
              <a:rPr lang="en-US" sz="3800" b="1" dirty="0">
                <a:solidFill>
                  <a:srgbClr val="DDD8CC"/>
                </a:solidFill>
                <a:latin typeface="Georgia" pitchFamily="34" charset="0"/>
                <a:ea typeface="Georgia" pitchFamily="34" charset="-122"/>
                <a:cs typeface="Georgia" pitchFamily="34" charset="-120"/>
              </a:rPr>
              <a:t>Why Kitco</a:t>
            </a:r>
            <a:endParaRPr lang="en-US" sz="3800" dirty="0"/>
          </a:p>
        </p:txBody>
      </p:sp>
      <p:sp>
        <p:nvSpPr>
          <p:cNvPr id="5" name="Text 3"/>
          <p:cNvSpPr/>
          <p:nvPr/>
        </p:nvSpPr>
        <p:spPr>
          <a:xfrm>
            <a:off x="457200" y="1280160"/>
            <a:ext cx="10972800" cy="274320"/>
          </a:xfrm>
          <a:prstGeom prst="rect">
            <a:avLst/>
          </a:prstGeom>
          <a:noFill/>
          <a:ln/>
        </p:spPr>
        <p:txBody>
          <a:bodyPr wrap="square" lIns="0" tIns="0" rIns="0" bIns="0" rtlCol="0" anchor="ctr"/>
          <a:lstStyle/>
          <a:p>
            <a:pPr indent="0" marL="0">
              <a:buNone/>
            </a:pPr>
            <a:r>
              <a:rPr lang="en-US" sz="1200" spc="100" kern="0" dirty="0">
                <a:solidFill>
                  <a:srgbClr val="7A7870"/>
                </a:solidFill>
                <a:latin typeface="Consolas" pitchFamily="34" charset="0"/>
                <a:ea typeface="Consolas" pitchFamily="34" charset="-122"/>
                <a:cs typeface="Consolas" pitchFamily="34" charset="-120"/>
              </a:rPr>
              <a:t>Why you specifically  ·  What you want  ·  What they get</a:t>
            </a:r>
            <a:endParaRPr lang="en-US" sz="1200" dirty="0"/>
          </a:p>
        </p:txBody>
      </p:sp>
      <p:sp>
        <p:nvSpPr>
          <p:cNvPr id="6" name="Shape 4"/>
          <p:cNvSpPr/>
          <p:nvPr/>
        </p:nvSpPr>
        <p:spPr>
          <a:xfrm>
            <a:off x="457200" y="1719072"/>
            <a:ext cx="11247120" cy="1417320"/>
          </a:xfrm>
          <a:prstGeom prst="rect">
            <a:avLst/>
          </a:prstGeom>
          <a:solidFill>
            <a:srgbClr val="1C1C19"/>
          </a:solidFill>
          <a:ln w="12700">
            <a:solidFill>
              <a:srgbClr val="2A2A26"/>
            </a:solidFill>
            <a:prstDash val="solid"/>
          </a:ln>
        </p:spPr>
      </p:sp>
      <p:sp>
        <p:nvSpPr>
          <p:cNvPr id="7" name="Shape 5"/>
          <p:cNvSpPr/>
          <p:nvPr/>
        </p:nvSpPr>
        <p:spPr>
          <a:xfrm>
            <a:off x="457200" y="1719072"/>
            <a:ext cx="64008" cy="1417320"/>
          </a:xfrm>
          <a:prstGeom prst="rect">
            <a:avLst/>
          </a:prstGeom>
          <a:solidFill>
            <a:srgbClr val="F5C842"/>
          </a:solidFill>
          <a:ln w="12700">
            <a:solidFill>
              <a:srgbClr val="F5C842"/>
            </a:solidFill>
            <a:prstDash val="solid"/>
          </a:ln>
        </p:spPr>
      </p:sp>
      <p:sp>
        <p:nvSpPr>
          <p:cNvPr id="8" name="Shape 6"/>
          <p:cNvSpPr/>
          <p:nvPr/>
        </p:nvSpPr>
        <p:spPr>
          <a:xfrm>
            <a:off x="640080" y="1810512"/>
            <a:ext cx="1188720" cy="219456"/>
          </a:xfrm>
          <a:prstGeom prst="rect">
            <a:avLst/>
          </a:prstGeom>
          <a:solidFill>
            <a:srgbClr val="2A2010"/>
          </a:solidFill>
          <a:ln w="12700">
            <a:solidFill>
              <a:srgbClr val="F5C842"/>
            </a:solidFill>
            <a:prstDash val="solid"/>
          </a:ln>
        </p:spPr>
      </p:sp>
      <p:sp>
        <p:nvSpPr>
          <p:cNvPr id="9" name="Text 7"/>
          <p:cNvSpPr/>
          <p:nvPr/>
        </p:nvSpPr>
        <p:spPr>
          <a:xfrm>
            <a:off x="640080" y="1810512"/>
            <a:ext cx="1188720" cy="219456"/>
          </a:xfrm>
          <a:prstGeom prst="rect">
            <a:avLst/>
          </a:prstGeom>
          <a:noFill/>
          <a:ln/>
        </p:spPr>
        <p:txBody>
          <a:bodyPr wrap="square" lIns="0" tIns="0" rIns="0" bIns="0" rtlCol="0" anchor="ctr"/>
          <a:lstStyle/>
          <a:p>
            <a:pPr algn="ctr" indent="0" marL="0">
              <a:buNone/>
            </a:pPr>
            <a:r>
              <a:rPr lang="en-US" sz="800" b="1" spc="100" kern="0" dirty="0">
                <a:solidFill>
                  <a:srgbClr val="F5C842"/>
                </a:solidFill>
                <a:latin typeface="Consolas" pitchFamily="34" charset="0"/>
                <a:ea typeface="Consolas" pitchFamily="34" charset="-122"/>
                <a:cs typeface="Consolas" pitchFamily="34" charset="-120"/>
              </a:rPr>
              <a:t>SKEPTICAL</a:t>
            </a:r>
            <a:endParaRPr lang="en-US" sz="800" dirty="0"/>
          </a:p>
        </p:txBody>
      </p:sp>
      <p:sp>
        <p:nvSpPr>
          <p:cNvPr id="10" name="Text 8"/>
          <p:cNvSpPr/>
          <p:nvPr/>
        </p:nvSpPr>
        <p:spPr>
          <a:xfrm>
            <a:off x="1965960" y="1810512"/>
            <a:ext cx="9601200" cy="274320"/>
          </a:xfrm>
          <a:prstGeom prst="rect">
            <a:avLst/>
          </a:prstGeom>
          <a:noFill/>
          <a:ln/>
        </p:spPr>
        <p:txBody>
          <a:bodyPr wrap="square" lIns="0" tIns="0" rIns="0" bIns="0" rtlCol="0" anchor="ctr"/>
          <a:lstStyle/>
          <a:p>
            <a:pPr indent="0" marL="0">
              <a:buNone/>
            </a:pPr>
            <a:r>
              <a:rPr lang="en-US" sz="1200" b="1" dirty="0">
                <a:solidFill>
                  <a:srgbClr val="DDD8CC"/>
                </a:solidFill>
                <a:latin typeface="Georgia" pitchFamily="34" charset="0"/>
                <a:ea typeface="Georgia" pitchFamily="34" charset="-122"/>
                <a:cs typeface="Georgia" pitchFamily="34" charset="-120"/>
              </a:rPr>
              <a:t>Q: Why Kitco? There are plenty of price data sources.</a:t>
            </a:r>
            <a:endParaRPr lang="en-US" sz="1200" dirty="0"/>
          </a:p>
        </p:txBody>
      </p:sp>
      <p:sp>
        <p:nvSpPr>
          <p:cNvPr id="11" name="Text 9"/>
          <p:cNvSpPr/>
          <p:nvPr/>
        </p:nvSpPr>
        <p:spPr>
          <a:xfrm>
            <a:off x="640080" y="2139696"/>
            <a:ext cx="10972800" cy="676656"/>
          </a:xfrm>
          <a:prstGeom prst="rect">
            <a:avLst/>
          </a:prstGeom>
          <a:noFill/>
          <a:ln/>
        </p:spPr>
        <p:txBody>
          <a:bodyPr wrap="square" lIns="0" tIns="0" rIns="0" bIns="0" rtlCol="0" anchor="ctr"/>
          <a:lstStyle/>
          <a:p>
            <a:pPr indent="0" marL="0">
              <a:buNone/>
            </a:pPr>
            <a:r>
              <a:rPr lang="en-US" sz="1150" dirty="0">
                <a:solidFill>
                  <a:srgbClr val="DDD8CC"/>
                </a:solidFill>
                <a:latin typeface="Calibri" pitchFamily="34" charset="0"/>
                <a:ea typeface="Calibri" pitchFamily="34" charset="-122"/>
                <a:cs typeface="Calibri" pitchFamily="34" charset="-120"/>
              </a:rPr>
              <a:t>Because Kitco is the authoritative source your readers already trust. When a Kitco user sees a market settle using Kitco's own feed — that's a closed loop. Your data, your audience, your credibility. Any other price source breaks that trust.</a:t>
            </a:r>
            <a:endParaRPr lang="en-US" sz="1150" dirty="0"/>
          </a:p>
        </p:txBody>
      </p:sp>
      <p:sp>
        <p:nvSpPr>
          <p:cNvPr id="12" name="Shape 10"/>
          <p:cNvSpPr/>
          <p:nvPr/>
        </p:nvSpPr>
        <p:spPr>
          <a:xfrm>
            <a:off x="640080" y="2871216"/>
            <a:ext cx="10972800" cy="201168"/>
          </a:xfrm>
          <a:prstGeom prst="rect">
            <a:avLst/>
          </a:prstGeom>
          <a:solidFill>
            <a:srgbClr val="2A2416"/>
          </a:solidFill>
          <a:ln w="12700">
            <a:solidFill>
              <a:srgbClr val="2A2416"/>
            </a:solidFill>
            <a:prstDash val="solid"/>
          </a:ln>
        </p:spPr>
      </p:sp>
      <p:sp>
        <p:nvSpPr>
          <p:cNvPr id="13" name="Text 11"/>
          <p:cNvSpPr/>
          <p:nvPr/>
        </p:nvSpPr>
        <p:spPr>
          <a:xfrm>
            <a:off x="777240" y="2880360"/>
            <a:ext cx="10698480" cy="182880"/>
          </a:xfrm>
          <a:prstGeom prst="rect">
            <a:avLst/>
          </a:prstGeom>
          <a:noFill/>
          <a:ln/>
        </p:spPr>
        <p:txBody>
          <a:bodyPr wrap="square" lIns="0" tIns="0" rIns="0" bIns="0" rtlCol="0" anchor="ctr"/>
          <a:lstStyle/>
          <a:p>
            <a:pPr indent="0" marL="0">
              <a:buNone/>
            </a:pPr>
            <a:r>
              <a:rPr lang="en-US" sz="900" i="1" dirty="0">
                <a:solidFill>
                  <a:srgbClr val="C9920D"/>
                </a:solidFill>
                <a:latin typeface="Consolas" pitchFamily="34" charset="0"/>
                <a:ea typeface="Consolas" pitchFamily="34" charset="-122"/>
                <a:cs typeface="Consolas" pitchFamily="34" charset="-120"/>
              </a:rPr>
              <a:t>▸  Your strongest answer. Deliver it confidently. Pause after 'closed loop.'</a:t>
            </a:r>
            <a:endParaRPr lang="en-US" sz="900" dirty="0"/>
          </a:p>
        </p:txBody>
      </p:sp>
      <p:sp>
        <p:nvSpPr>
          <p:cNvPr id="14" name="Shape 12"/>
          <p:cNvSpPr/>
          <p:nvPr/>
        </p:nvSpPr>
        <p:spPr>
          <a:xfrm>
            <a:off x="457200" y="3328416"/>
            <a:ext cx="11247120" cy="1417320"/>
          </a:xfrm>
          <a:prstGeom prst="rect">
            <a:avLst/>
          </a:prstGeom>
          <a:solidFill>
            <a:srgbClr val="1C1C19"/>
          </a:solidFill>
          <a:ln w="12700">
            <a:solidFill>
              <a:srgbClr val="2A2A26"/>
            </a:solidFill>
            <a:prstDash val="solid"/>
          </a:ln>
        </p:spPr>
      </p:sp>
      <p:sp>
        <p:nvSpPr>
          <p:cNvPr id="15" name="Shape 13"/>
          <p:cNvSpPr/>
          <p:nvPr/>
        </p:nvSpPr>
        <p:spPr>
          <a:xfrm>
            <a:off x="457200" y="3328416"/>
            <a:ext cx="64008" cy="1417320"/>
          </a:xfrm>
          <a:prstGeom prst="rect">
            <a:avLst/>
          </a:prstGeom>
          <a:solidFill>
            <a:srgbClr val="F5C842"/>
          </a:solidFill>
          <a:ln w="12700">
            <a:solidFill>
              <a:srgbClr val="F5C842"/>
            </a:solidFill>
            <a:prstDash val="solid"/>
          </a:ln>
        </p:spPr>
      </p:sp>
      <p:sp>
        <p:nvSpPr>
          <p:cNvPr id="16" name="Shape 14"/>
          <p:cNvSpPr/>
          <p:nvPr/>
        </p:nvSpPr>
        <p:spPr>
          <a:xfrm>
            <a:off x="640080" y="3419856"/>
            <a:ext cx="1188720" cy="219456"/>
          </a:xfrm>
          <a:prstGeom prst="rect">
            <a:avLst/>
          </a:prstGeom>
          <a:solidFill>
            <a:srgbClr val="2A2010"/>
          </a:solidFill>
          <a:ln w="12700">
            <a:solidFill>
              <a:srgbClr val="F5C842"/>
            </a:solidFill>
            <a:prstDash val="solid"/>
          </a:ln>
        </p:spPr>
      </p:sp>
      <p:sp>
        <p:nvSpPr>
          <p:cNvPr id="17" name="Text 15"/>
          <p:cNvSpPr/>
          <p:nvPr/>
        </p:nvSpPr>
        <p:spPr>
          <a:xfrm>
            <a:off x="640080" y="3419856"/>
            <a:ext cx="1188720" cy="219456"/>
          </a:xfrm>
          <a:prstGeom prst="rect">
            <a:avLst/>
          </a:prstGeom>
          <a:noFill/>
          <a:ln/>
        </p:spPr>
        <p:txBody>
          <a:bodyPr wrap="square" lIns="0" tIns="0" rIns="0" bIns="0" rtlCol="0" anchor="ctr"/>
          <a:lstStyle/>
          <a:p>
            <a:pPr algn="ctr" indent="0" marL="0">
              <a:buNone/>
            </a:pPr>
            <a:r>
              <a:rPr lang="en-US" sz="800" b="1" spc="100" kern="0" dirty="0">
                <a:solidFill>
                  <a:srgbClr val="F5C842"/>
                </a:solidFill>
                <a:latin typeface="Consolas" pitchFamily="34" charset="0"/>
                <a:ea typeface="Consolas" pitchFamily="34" charset="-122"/>
                <a:cs typeface="Consolas" pitchFamily="34" charset="-120"/>
              </a:rPr>
              <a:t>SKEPTICAL</a:t>
            </a:r>
            <a:endParaRPr lang="en-US" sz="800" dirty="0"/>
          </a:p>
        </p:txBody>
      </p:sp>
      <p:sp>
        <p:nvSpPr>
          <p:cNvPr id="18" name="Text 16"/>
          <p:cNvSpPr/>
          <p:nvPr/>
        </p:nvSpPr>
        <p:spPr>
          <a:xfrm>
            <a:off x="1965960" y="3419856"/>
            <a:ext cx="9601200" cy="274320"/>
          </a:xfrm>
          <a:prstGeom prst="rect">
            <a:avLst/>
          </a:prstGeom>
          <a:noFill/>
          <a:ln/>
        </p:spPr>
        <p:txBody>
          <a:bodyPr wrap="square" lIns="0" tIns="0" rIns="0" bIns="0" rtlCol="0" anchor="ctr"/>
          <a:lstStyle/>
          <a:p>
            <a:pPr indent="0" marL="0">
              <a:buNone/>
            </a:pPr>
            <a:r>
              <a:rPr lang="en-US" sz="1200" b="1" dirty="0">
                <a:solidFill>
                  <a:srgbClr val="DDD8CC"/>
                </a:solidFill>
                <a:latin typeface="Georgia" pitchFamily="34" charset="0"/>
                <a:ea typeface="Georgia" pitchFamily="34" charset="-122"/>
                <a:cs typeface="Georgia" pitchFamily="34" charset="-120"/>
              </a:rPr>
              <a:t>Q: What does Kitco get out of this?</a:t>
            </a:r>
            <a:endParaRPr lang="en-US" sz="1200" dirty="0"/>
          </a:p>
        </p:txBody>
      </p:sp>
      <p:sp>
        <p:nvSpPr>
          <p:cNvPr id="19" name="Text 17"/>
          <p:cNvSpPr/>
          <p:nvPr/>
        </p:nvSpPr>
        <p:spPr>
          <a:xfrm>
            <a:off x="640080" y="3749040"/>
            <a:ext cx="10972800" cy="676656"/>
          </a:xfrm>
          <a:prstGeom prst="rect">
            <a:avLst/>
          </a:prstGeom>
          <a:noFill/>
          <a:ln/>
        </p:spPr>
        <p:txBody>
          <a:bodyPr wrap="square" lIns="0" tIns="0" rIns="0" bIns="0" rtlCol="0" anchor="ctr"/>
          <a:lstStyle/>
          <a:p>
            <a:pPr indent="0" marL="0">
              <a:buNone/>
            </a:pPr>
            <a:r>
              <a:rPr lang="en-US" sz="1150" dirty="0">
                <a:solidFill>
                  <a:srgbClr val="DDD8CC"/>
                </a:solidFill>
                <a:latin typeface="Calibri" pitchFamily="34" charset="0"/>
                <a:ea typeface="Calibri" pitchFamily="34" charset="-122"/>
                <a:cs typeface="Calibri" pitchFamily="34" charset="-120"/>
              </a:rPr>
              <a:t>Three things: (1) New traffic — every market links to the Kitco article that contextualises it. (2) Brand reach into a crypto-native audience that doesn't read Kitco today. (3) Preferred oracle status — Kitco price data settling on-chain commodity markets is a meaningful positioning win.</a:t>
            </a:r>
            <a:endParaRPr lang="en-US" sz="1150" dirty="0"/>
          </a:p>
        </p:txBody>
      </p:sp>
      <p:sp>
        <p:nvSpPr>
          <p:cNvPr id="20" name="Shape 18"/>
          <p:cNvSpPr/>
          <p:nvPr/>
        </p:nvSpPr>
        <p:spPr>
          <a:xfrm>
            <a:off x="640080" y="4480560"/>
            <a:ext cx="10972800" cy="201168"/>
          </a:xfrm>
          <a:prstGeom prst="rect">
            <a:avLst/>
          </a:prstGeom>
          <a:solidFill>
            <a:srgbClr val="2A2416"/>
          </a:solidFill>
          <a:ln w="12700">
            <a:solidFill>
              <a:srgbClr val="2A2416"/>
            </a:solidFill>
            <a:prstDash val="solid"/>
          </a:ln>
        </p:spPr>
      </p:sp>
      <p:sp>
        <p:nvSpPr>
          <p:cNvPr id="21" name="Text 19"/>
          <p:cNvSpPr/>
          <p:nvPr/>
        </p:nvSpPr>
        <p:spPr>
          <a:xfrm>
            <a:off x="777240" y="4489704"/>
            <a:ext cx="10698480" cy="182880"/>
          </a:xfrm>
          <a:prstGeom prst="rect">
            <a:avLst/>
          </a:prstGeom>
          <a:noFill/>
          <a:ln/>
        </p:spPr>
        <p:txBody>
          <a:bodyPr wrap="square" lIns="0" tIns="0" rIns="0" bIns="0" rtlCol="0" anchor="ctr"/>
          <a:lstStyle/>
          <a:p>
            <a:pPr indent="0" marL="0">
              <a:buNone/>
            </a:pPr>
            <a:r>
              <a:rPr lang="en-US" sz="900" i="1" dirty="0">
                <a:solidFill>
                  <a:srgbClr val="C9920D"/>
                </a:solidFill>
                <a:latin typeface="Consolas" pitchFamily="34" charset="0"/>
                <a:ea typeface="Consolas" pitchFamily="34" charset="-122"/>
                <a:cs typeface="Consolas" pitchFamily="34" charset="-120"/>
              </a:rPr>
              <a:t>▸  Lead with traffic. Kitco is a media business — eyeballs matter to them.</a:t>
            </a:r>
            <a:endParaRPr lang="en-US" sz="900" dirty="0"/>
          </a:p>
        </p:txBody>
      </p:sp>
      <p:sp>
        <p:nvSpPr>
          <p:cNvPr id="22" name="Shape 20"/>
          <p:cNvSpPr/>
          <p:nvPr/>
        </p:nvSpPr>
        <p:spPr>
          <a:xfrm>
            <a:off x="457200" y="4937760"/>
            <a:ext cx="11247120" cy="1417320"/>
          </a:xfrm>
          <a:prstGeom prst="rect">
            <a:avLst/>
          </a:prstGeom>
          <a:solidFill>
            <a:srgbClr val="1C1C19"/>
          </a:solidFill>
          <a:ln w="12700">
            <a:solidFill>
              <a:srgbClr val="2A2A26"/>
            </a:solidFill>
            <a:prstDash val="solid"/>
          </a:ln>
        </p:spPr>
      </p:sp>
      <p:sp>
        <p:nvSpPr>
          <p:cNvPr id="23" name="Shape 21"/>
          <p:cNvSpPr/>
          <p:nvPr/>
        </p:nvSpPr>
        <p:spPr>
          <a:xfrm>
            <a:off x="457200" y="4937760"/>
            <a:ext cx="64008" cy="1417320"/>
          </a:xfrm>
          <a:prstGeom prst="rect">
            <a:avLst/>
          </a:prstGeom>
          <a:solidFill>
            <a:srgbClr val="F5C842"/>
          </a:solidFill>
          <a:ln w="12700">
            <a:solidFill>
              <a:srgbClr val="F5C842"/>
            </a:solidFill>
            <a:prstDash val="solid"/>
          </a:ln>
        </p:spPr>
      </p:sp>
      <p:sp>
        <p:nvSpPr>
          <p:cNvPr id="24" name="Shape 22"/>
          <p:cNvSpPr/>
          <p:nvPr/>
        </p:nvSpPr>
        <p:spPr>
          <a:xfrm>
            <a:off x="640080" y="5029200"/>
            <a:ext cx="1188720" cy="219456"/>
          </a:xfrm>
          <a:prstGeom prst="rect">
            <a:avLst/>
          </a:prstGeom>
          <a:solidFill>
            <a:srgbClr val="2A2010"/>
          </a:solidFill>
          <a:ln w="12700">
            <a:solidFill>
              <a:srgbClr val="F5C842"/>
            </a:solidFill>
            <a:prstDash val="solid"/>
          </a:ln>
        </p:spPr>
      </p:sp>
      <p:sp>
        <p:nvSpPr>
          <p:cNvPr id="25" name="Text 23"/>
          <p:cNvSpPr/>
          <p:nvPr/>
        </p:nvSpPr>
        <p:spPr>
          <a:xfrm>
            <a:off x="640080" y="5029200"/>
            <a:ext cx="1188720" cy="219456"/>
          </a:xfrm>
          <a:prstGeom prst="rect">
            <a:avLst/>
          </a:prstGeom>
          <a:noFill/>
          <a:ln/>
        </p:spPr>
        <p:txBody>
          <a:bodyPr wrap="square" lIns="0" tIns="0" rIns="0" bIns="0" rtlCol="0" anchor="ctr"/>
          <a:lstStyle/>
          <a:p>
            <a:pPr algn="ctr" indent="0" marL="0">
              <a:buNone/>
            </a:pPr>
            <a:r>
              <a:rPr lang="en-US" sz="800" b="1" spc="100" kern="0" dirty="0">
                <a:solidFill>
                  <a:srgbClr val="F5C842"/>
                </a:solidFill>
                <a:latin typeface="Consolas" pitchFamily="34" charset="0"/>
                <a:ea typeface="Consolas" pitchFamily="34" charset="-122"/>
                <a:cs typeface="Consolas" pitchFamily="34" charset="-120"/>
              </a:rPr>
              <a:t>SKEPTICAL</a:t>
            </a:r>
            <a:endParaRPr lang="en-US" sz="800" dirty="0"/>
          </a:p>
        </p:txBody>
      </p:sp>
      <p:sp>
        <p:nvSpPr>
          <p:cNvPr id="26" name="Text 24"/>
          <p:cNvSpPr/>
          <p:nvPr/>
        </p:nvSpPr>
        <p:spPr>
          <a:xfrm>
            <a:off x="1965960" y="5029200"/>
            <a:ext cx="9601200" cy="274320"/>
          </a:xfrm>
          <a:prstGeom prst="rect">
            <a:avLst/>
          </a:prstGeom>
          <a:noFill/>
          <a:ln/>
        </p:spPr>
        <p:txBody>
          <a:bodyPr wrap="square" lIns="0" tIns="0" rIns="0" bIns="0" rtlCol="0" anchor="ctr"/>
          <a:lstStyle/>
          <a:p>
            <a:pPr indent="0" marL="0">
              <a:buNone/>
            </a:pPr>
            <a:r>
              <a:rPr lang="en-US" sz="1200" b="1" dirty="0">
                <a:solidFill>
                  <a:srgbClr val="DDD8CC"/>
                </a:solidFill>
                <a:latin typeface="Georgia" pitchFamily="34" charset="0"/>
                <a:ea typeface="Georgia" pitchFamily="34" charset="-122"/>
                <a:cs typeface="Georgia" pitchFamily="34" charset="-120"/>
              </a:rPr>
              <a:t>Q: How much traffic are you going to send us?</a:t>
            </a:r>
            <a:endParaRPr lang="en-US" sz="1200" dirty="0"/>
          </a:p>
        </p:txBody>
      </p:sp>
      <p:sp>
        <p:nvSpPr>
          <p:cNvPr id="27" name="Text 25"/>
          <p:cNvSpPr/>
          <p:nvPr/>
        </p:nvSpPr>
        <p:spPr>
          <a:xfrm>
            <a:off x="640080" y="5358384"/>
            <a:ext cx="10972800" cy="676656"/>
          </a:xfrm>
          <a:prstGeom prst="rect">
            <a:avLst/>
          </a:prstGeom>
          <a:noFill/>
          <a:ln/>
        </p:spPr>
        <p:txBody>
          <a:bodyPr wrap="square" lIns="0" tIns="0" rIns="0" bIns="0" rtlCol="0" anchor="ctr"/>
          <a:lstStyle/>
          <a:p>
            <a:pPr indent="0" marL="0">
              <a:buNone/>
            </a:pPr>
            <a:r>
              <a:rPr lang="en-US" sz="1150" dirty="0">
                <a:solidFill>
                  <a:srgbClr val="DDD8CC"/>
                </a:solidFill>
                <a:latin typeface="Calibri" pitchFamily="34" charset="0"/>
                <a:ea typeface="Calibri" pitchFamily="34" charset="-122"/>
                <a:cs typeface="Calibri" pitchFamily="34" charset="-120"/>
              </a:rPr>
              <a:t>I can't put a number on it at launch — and I won't invent one. What I can say is every market carries a Kitco attribution and link. As volume grows that attribution compounds. We'd be happy to share referral analytics once we're live so you can measure it directly.</a:t>
            </a:r>
            <a:endParaRPr lang="en-US" sz="1150" dirty="0"/>
          </a:p>
        </p:txBody>
      </p:sp>
      <p:sp>
        <p:nvSpPr>
          <p:cNvPr id="28" name="Shape 26"/>
          <p:cNvSpPr/>
          <p:nvPr/>
        </p:nvSpPr>
        <p:spPr>
          <a:xfrm>
            <a:off x="640080" y="6089904"/>
            <a:ext cx="10972800" cy="201168"/>
          </a:xfrm>
          <a:prstGeom prst="rect">
            <a:avLst/>
          </a:prstGeom>
          <a:solidFill>
            <a:srgbClr val="2A2416"/>
          </a:solidFill>
          <a:ln w="12700">
            <a:solidFill>
              <a:srgbClr val="2A2416"/>
            </a:solidFill>
            <a:prstDash val="solid"/>
          </a:ln>
        </p:spPr>
      </p:sp>
      <p:sp>
        <p:nvSpPr>
          <p:cNvPr id="29" name="Text 27"/>
          <p:cNvSpPr/>
          <p:nvPr/>
        </p:nvSpPr>
        <p:spPr>
          <a:xfrm>
            <a:off x="777240" y="6099048"/>
            <a:ext cx="10698480" cy="182880"/>
          </a:xfrm>
          <a:prstGeom prst="rect">
            <a:avLst/>
          </a:prstGeom>
          <a:noFill/>
          <a:ln/>
        </p:spPr>
        <p:txBody>
          <a:bodyPr wrap="square" lIns="0" tIns="0" rIns="0" bIns="0" rtlCol="0" anchor="ctr"/>
          <a:lstStyle/>
          <a:p>
            <a:pPr indent="0" marL="0">
              <a:buNone/>
            </a:pPr>
            <a:r>
              <a:rPr lang="en-US" sz="900" i="1" dirty="0">
                <a:solidFill>
                  <a:srgbClr val="C9920D"/>
                </a:solidFill>
                <a:latin typeface="Consolas" pitchFamily="34" charset="0"/>
                <a:ea typeface="Consolas" pitchFamily="34" charset="-122"/>
                <a:cs typeface="Consolas" pitchFamily="34" charset="-120"/>
              </a:rPr>
              <a:t>▸  Honesty builds more trust here than a made-up projection.</a:t>
            </a:r>
            <a:endParaRPr lang="en-US" sz="900" dirty="0"/>
          </a:p>
        </p:txBody>
      </p:sp>
      <p:sp>
        <p:nvSpPr>
          <p:cNvPr id="30" name="Text 28"/>
          <p:cNvSpPr/>
          <p:nvPr/>
        </p:nvSpPr>
        <p:spPr>
          <a:xfrm>
            <a:off x="365760" y="6492240"/>
            <a:ext cx="2743200" cy="228600"/>
          </a:xfrm>
          <a:prstGeom prst="rect">
            <a:avLst/>
          </a:prstGeom>
          <a:noFill/>
          <a:ln/>
        </p:spPr>
        <p:txBody>
          <a:bodyPr wrap="square" lIns="0" tIns="0" rIns="0" bIns="0" rtlCol="0" anchor="ctr"/>
          <a:lstStyle/>
          <a:p>
            <a:pPr indent="0" marL="0">
              <a:buNone/>
            </a:pPr>
            <a:r>
              <a:rPr lang="en-US" sz="900" b="1" spc="200" kern="0" dirty="0">
                <a:solidFill>
                  <a:srgbClr val="C9920D"/>
                </a:solidFill>
                <a:latin typeface="Consolas" pitchFamily="34" charset="0"/>
                <a:ea typeface="Consolas" pitchFamily="34" charset="-122"/>
                <a:cs typeface="Consolas" pitchFamily="34" charset="-120"/>
              </a:rPr>
              <a:t>◆ HYPERFLEX</a:t>
            </a:r>
            <a:endParaRPr lang="en-US" sz="900" dirty="0"/>
          </a:p>
        </p:txBody>
      </p:sp>
      <p:sp>
        <p:nvSpPr>
          <p:cNvPr id="31" name="Text 29"/>
          <p:cNvSpPr/>
          <p:nvPr/>
        </p:nvSpPr>
        <p:spPr>
          <a:xfrm>
            <a:off x="9052560" y="6492240"/>
            <a:ext cx="2743200" cy="228600"/>
          </a:xfrm>
          <a:prstGeom prst="rect">
            <a:avLst/>
          </a:prstGeom>
          <a:noFill/>
          <a:ln/>
        </p:spPr>
        <p:txBody>
          <a:bodyPr wrap="square" lIns="0" tIns="0" rIns="0" bIns="0" rtlCol="0" anchor="ctr"/>
          <a:lstStyle/>
          <a:p>
            <a:pPr algn="r" indent="0" marL="0">
              <a:buNone/>
            </a:pPr>
            <a:r>
              <a:rPr lang="en-US" sz="800" spc="100" kern="0" dirty="0">
                <a:solidFill>
                  <a:srgbClr val="7A7870"/>
                </a:solidFill>
                <a:latin typeface="Consolas" pitchFamily="34" charset="0"/>
                <a:ea typeface="Consolas" pitchFamily="34" charset="-122"/>
                <a:cs typeface="Consolas" pitchFamily="34" charset="-120"/>
              </a:rPr>
              <a:t>SECTION 02 — WHY KITCO</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2"/>
        </a:solidFill>
      </p:bgPr>
    </p:bg>
    <p:spTree>
      <p:nvGrpSpPr>
        <p:cNvPr id="1" name=""/>
        <p:cNvGrpSpPr/>
        <p:nvPr/>
      </p:nvGrpSpPr>
      <p:grpSpPr>
        <a:xfrm>
          <a:off x="0" y="0"/>
          <a:ext cx="0" cy="0"/>
          <a:chOff x="0" y="0"/>
          <a:chExt cx="0" cy="0"/>
        </a:xfrm>
      </p:grpSpPr>
      <p:sp>
        <p:nvSpPr>
          <p:cNvPr id="2" name="Shape 0"/>
          <p:cNvSpPr/>
          <p:nvPr/>
        </p:nvSpPr>
        <p:spPr>
          <a:xfrm>
            <a:off x="457200" y="274320"/>
            <a:ext cx="2011680" cy="274320"/>
          </a:xfrm>
          <a:prstGeom prst="rect">
            <a:avLst/>
          </a:prstGeom>
          <a:solidFill>
            <a:srgbClr val="3355AA"/>
          </a:solidFill>
          <a:ln w="12700">
            <a:solidFill>
              <a:srgbClr val="3355AA"/>
            </a:solidFill>
            <a:prstDash val="solid"/>
          </a:ln>
        </p:spPr>
      </p:sp>
      <p:sp>
        <p:nvSpPr>
          <p:cNvPr id="3" name="Text 1"/>
          <p:cNvSpPr/>
          <p:nvPr/>
        </p:nvSpPr>
        <p:spPr>
          <a:xfrm>
            <a:off x="457200" y="274320"/>
            <a:ext cx="201168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onsolas" pitchFamily="34" charset="0"/>
                <a:ea typeface="Consolas" pitchFamily="34" charset="-122"/>
                <a:cs typeface="Consolas" pitchFamily="34" charset="-120"/>
              </a:rPr>
              <a:t>SECTION 03</a:t>
            </a:r>
            <a:endParaRPr lang="en-US" sz="900" dirty="0"/>
          </a:p>
        </p:txBody>
      </p:sp>
      <p:sp>
        <p:nvSpPr>
          <p:cNvPr id="4" name="Text 2"/>
          <p:cNvSpPr/>
          <p:nvPr/>
        </p:nvSpPr>
        <p:spPr>
          <a:xfrm>
            <a:off x="457200" y="658368"/>
            <a:ext cx="10972800" cy="594360"/>
          </a:xfrm>
          <a:prstGeom prst="rect">
            <a:avLst/>
          </a:prstGeom>
          <a:noFill/>
          <a:ln/>
        </p:spPr>
        <p:txBody>
          <a:bodyPr wrap="square" lIns="0" tIns="0" rIns="0" bIns="0" rtlCol="0" anchor="ctr"/>
          <a:lstStyle/>
          <a:p>
            <a:pPr indent="0" marL="0">
              <a:buNone/>
            </a:pPr>
            <a:r>
              <a:rPr lang="en-US" sz="3800" b="1" dirty="0">
                <a:solidFill>
                  <a:srgbClr val="DDD8CC"/>
                </a:solidFill>
                <a:latin typeface="Georgia" pitchFamily="34" charset="0"/>
                <a:ea typeface="Georgia" pitchFamily="34" charset="-122"/>
                <a:cs typeface="Georgia" pitchFamily="34" charset="-120"/>
              </a:rPr>
              <a:t>Legal &amp; Compliance</a:t>
            </a:r>
            <a:endParaRPr lang="en-US" sz="3800" dirty="0"/>
          </a:p>
        </p:txBody>
      </p:sp>
      <p:sp>
        <p:nvSpPr>
          <p:cNvPr id="5" name="Text 3"/>
          <p:cNvSpPr/>
          <p:nvPr/>
        </p:nvSpPr>
        <p:spPr>
          <a:xfrm>
            <a:off x="457200" y="1280160"/>
            <a:ext cx="10972800" cy="274320"/>
          </a:xfrm>
          <a:prstGeom prst="rect">
            <a:avLst/>
          </a:prstGeom>
          <a:noFill/>
          <a:ln/>
        </p:spPr>
        <p:txBody>
          <a:bodyPr wrap="square" lIns="0" tIns="0" rIns="0" bIns="0" rtlCol="0" anchor="ctr"/>
          <a:lstStyle/>
          <a:p>
            <a:pPr indent="0" marL="0">
              <a:buNone/>
            </a:pPr>
            <a:r>
              <a:rPr lang="en-US" sz="1200" spc="100" kern="0" dirty="0">
                <a:solidFill>
                  <a:srgbClr val="7A7870"/>
                </a:solidFill>
                <a:latin typeface="Consolas" pitchFamily="34" charset="0"/>
                <a:ea typeface="Consolas" pitchFamily="34" charset="-122"/>
                <a:cs typeface="Consolas" pitchFamily="34" charset="-120"/>
              </a:rPr>
              <a:t>Is this gambling?  ·  Jurisdiction  ·  What Kitco needs to sign  ·  Liability</a:t>
            </a:r>
            <a:endParaRPr lang="en-US" sz="1200" dirty="0"/>
          </a:p>
        </p:txBody>
      </p:sp>
      <p:sp>
        <p:nvSpPr>
          <p:cNvPr id="6" name="Shape 4"/>
          <p:cNvSpPr/>
          <p:nvPr/>
        </p:nvSpPr>
        <p:spPr>
          <a:xfrm>
            <a:off x="457200" y="1719072"/>
            <a:ext cx="5577840" cy="2148840"/>
          </a:xfrm>
          <a:prstGeom prst="rect">
            <a:avLst/>
          </a:prstGeom>
          <a:solidFill>
            <a:srgbClr val="1C1C19"/>
          </a:solidFill>
          <a:ln w="12700">
            <a:solidFill>
              <a:srgbClr val="2A2A26"/>
            </a:solidFill>
            <a:prstDash val="solid"/>
          </a:ln>
        </p:spPr>
      </p:sp>
      <p:sp>
        <p:nvSpPr>
          <p:cNvPr id="7" name="Shape 5"/>
          <p:cNvSpPr/>
          <p:nvPr/>
        </p:nvSpPr>
        <p:spPr>
          <a:xfrm>
            <a:off x="457200" y="1719072"/>
            <a:ext cx="64008" cy="2148840"/>
          </a:xfrm>
          <a:prstGeom prst="rect">
            <a:avLst/>
          </a:prstGeom>
          <a:solidFill>
            <a:srgbClr val="3355AA"/>
          </a:solidFill>
          <a:ln w="12700">
            <a:solidFill>
              <a:srgbClr val="3355AA"/>
            </a:solidFill>
            <a:prstDash val="solid"/>
          </a:ln>
        </p:spPr>
      </p:sp>
      <p:sp>
        <p:nvSpPr>
          <p:cNvPr id="8" name="Shape 6"/>
          <p:cNvSpPr/>
          <p:nvPr/>
        </p:nvSpPr>
        <p:spPr>
          <a:xfrm>
            <a:off x="594360" y="1810512"/>
            <a:ext cx="822960" cy="201168"/>
          </a:xfrm>
          <a:prstGeom prst="rect">
            <a:avLst/>
          </a:prstGeom>
          <a:solidFill>
            <a:srgbClr val="0F1A2A"/>
          </a:solidFill>
          <a:ln w="12700">
            <a:solidFill>
              <a:srgbClr val="3355AA"/>
            </a:solidFill>
            <a:prstDash val="solid"/>
          </a:ln>
        </p:spPr>
      </p:sp>
      <p:sp>
        <p:nvSpPr>
          <p:cNvPr id="9" name="Text 7"/>
          <p:cNvSpPr/>
          <p:nvPr/>
        </p:nvSpPr>
        <p:spPr>
          <a:xfrm>
            <a:off x="594360" y="1810512"/>
            <a:ext cx="822960" cy="201168"/>
          </a:xfrm>
          <a:prstGeom prst="rect">
            <a:avLst/>
          </a:prstGeom>
          <a:noFill/>
          <a:ln/>
        </p:spPr>
        <p:txBody>
          <a:bodyPr wrap="square" lIns="0" tIns="0" rIns="0" bIns="0" rtlCol="0" anchor="ctr"/>
          <a:lstStyle/>
          <a:p>
            <a:pPr algn="ctr" indent="0" marL="0">
              <a:buNone/>
            </a:pPr>
            <a:r>
              <a:rPr lang="en-US" sz="700" b="1" spc="100" kern="0" dirty="0">
                <a:solidFill>
                  <a:srgbClr val="3355AA"/>
                </a:solidFill>
                <a:latin typeface="Consolas" pitchFamily="34" charset="0"/>
                <a:ea typeface="Consolas" pitchFamily="34" charset="-122"/>
                <a:cs typeface="Consolas" pitchFamily="34" charset="-120"/>
              </a:rPr>
              <a:t>LEGAL</a:t>
            </a:r>
            <a:endParaRPr lang="en-US" sz="700" dirty="0"/>
          </a:p>
        </p:txBody>
      </p:sp>
      <p:sp>
        <p:nvSpPr>
          <p:cNvPr id="10" name="Text 8"/>
          <p:cNvSpPr/>
          <p:nvPr/>
        </p:nvSpPr>
        <p:spPr>
          <a:xfrm>
            <a:off x="594360" y="2066544"/>
            <a:ext cx="5321808" cy="329184"/>
          </a:xfrm>
          <a:prstGeom prst="rect">
            <a:avLst/>
          </a:prstGeom>
          <a:noFill/>
          <a:ln/>
        </p:spPr>
        <p:txBody>
          <a:bodyPr wrap="square" lIns="0" tIns="0" rIns="0" bIns="0" rtlCol="0" anchor="ctr"/>
          <a:lstStyle/>
          <a:p>
            <a:pPr indent="0" marL="0">
              <a:buNone/>
            </a:pPr>
            <a:r>
              <a:rPr lang="en-US" sz="1100" b="1" dirty="0">
                <a:solidFill>
                  <a:srgbClr val="DDD8CC"/>
                </a:solidFill>
                <a:latin typeface="Georgia" pitchFamily="34" charset="0"/>
                <a:ea typeface="Georgia" pitchFamily="34" charset="-122"/>
                <a:cs typeface="Georgia" pitchFamily="34" charset="-120"/>
              </a:rPr>
              <a:t>Q: Is this gambling? Are you a licensed exchange?</a:t>
            </a:r>
            <a:endParaRPr lang="en-US" sz="1100" dirty="0"/>
          </a:p>
        </p:txBody>
      </p:sp>
      <p:sp>
        <p:nvSpPr>
          <p:cNvPr id="11" name="Text 9"/>
          <p:cNvSpPr/>
          <p:nvPr/>
        </p:nvSpPr>
        <p:spPr>
          <a:xfrm>
            <a:off x="594360" y="2432304"/>
            <a:ext cx="5321808" cy="1042416"/>
          </a:xfrm>
          <a:prstGeom prst="rect">
            <a:avLst/>
          </a:prstGeom>
          <a:noFill/>
          <a:ln/>
        </p:spPr>
        <p:txBody>
          <a:bodyPr wrap="square" lIns="0" tIns="0" rIns="0" bIns="0" rtlCol="0" anchor="ctr"/>
          <a:lstStyle/>
          <a:p>
            <a:pPr indent="0" marL="0">
              <a:buNone/>
            </a:pPr>
            <a:r>
              <a:rPr lang="en-US" sz="1050" dirty="0">
                <a:solidFill>
                  <a:srgbClr val="DDD8CC"/>
                </a:solidFill>
                <a:latin typeface="Calibri" pitchFamily="34" charset="0"/>
                <a:ea typeface="Calibri" pitchFamily="34" charset="-122"/>
                <a:cs typeface="Calibri" pitchFamily="34" charset="-120"/>
              </a:rPr>
              <a:t>No on both. Prediction markets are peer-to-peer contracts — users trade against each other, not a house. This sits in the same category as Polymarket and Kalshi, both of which operate openly. Kitco's role is purely as a data provider. That's identical to what Bloomberg or Reuters does for any financial platform.</a:t>
            </a:r>
            <a:endParaRPr lang="en-US" sz="1050" dirty="0"/>
          </a:p>
        </p:txBody>
      </p:sp>
      <p:sp>
        <p:nvSpPr>
          <p:cNvPr id="12" name="Shape 10"/>
          <p:cNvSpPr/>
          <p:nvPr/>
        </p:nvSpPr>
        <p:spPr>
          <a:xfrm>
            <a:off x="594360" y="3529584"/>
            <a:ext cx="5321808" cy="237744"/>
          </a:xfrm>
          <a:prstGeom prst="rect">
            <a:avLst/>
          </a:prstGeom>
          <a:solidFill>
            <a:srgbClr val="0F1A2A"/>
          </a:solidFill>
          <a:ln w="12700">
            <a:solidFill>
              <a:srgbClr val="0F1A2A"/>
            </a:solidFill>
            <a:prstDash val="solid"/>
          </a:ln>
        </p:spPr>
      </p:sp>
      <p:sp>
        <p:nvSpPr>
          <p:cNvPr id="13" name="Text 11"/>
          <p:cNvSpPr/>
          <p:nvPr/>
        </p:nvSpPr>
        <p:spPr>
          <a:xfrm>
            <a:off x="658368" y="3547872"/>
            <a:ext cx="5230368" cy="201168"/>
          </a:xfrm>
          <a:prstGeom prst="rect">
            <a:avLst/>
          </a:prstGeom>
          <a:noFill/>
          <a:ln/>
        </p:spPr>
        <p:txBody>
          <a:bodyPr wrap="square" lIns="0" tIns="0" rIns="0" bIns="0" rtlCol="0" anchor="ctr"/>
          <a:lstStyle/>
          <a:p>
            <a:pPr indent="0" marL="0">
              <a:buNone/>
            </a:pPr>
            <a:r>
              <a:rPr lang="en-US" sz="900" i="1" dirty="0">
                <a:solidFill>
                  <a:srgbClr val="3355AA"/>
                </a:solidFill>
                <a:latin typeface="Consolas" pitchFamily="34" charset="0"/>
                <a:ea typeface="Consolas" pitchFamily="34" charset="-122"/>
                <a:cs typeface="Consolas" pitchFamily="34" charset="-120"/>
              </a:rPr>
              <a:t>▸  Key line: 'Kitco is a data source, not a participant.'</a:t>
            </a:r>
            <a:endParaRPr lang="en-US" sz="900" dirty="0"/>
          </a:p>
        </p:txBody>
      </p:sp>
      <p:sp>
        <p:nvSpPr>
          <p:cNvPr id="14" name="Shape 12"/>
          <p:cNvSpPr/>
          <p:nvPr/>
        </p:nvSpPr>
        <p:spPr>
          <a:xfrm>
            <a:off x="6309360" y="1719072"/>
            <a:ext cx="5577840" cy="2148840"/>
          </a:xfrm>
          <a:prstGeom prst="rect">
            <a:avLst/>
          </a:prstGeom>
          <a:solidFill>
            <a:srgbClr val="1C1C19"/>
          </a:solidFill>
          <a:ln w="12700">
            <a:solidFill>
              <a:srgbClr val="2A2A26"/>
            </a:solidFill>
            <a:prstDash val="solid"/>
          </a:ln>
        </p:spPr>
      </p:sp>
      <p:sp>
        <p:nvSpPr>
          <p:cNvPr id="15" name="Shape 13"/>
          <p:cNvSpPr/>
          <p:nvPr/>
        </p:nvSpPr>
        <p:spPr>
          <a:xfrm>
            <a:off x="6309360" y="1719072"/>
            <a:ext cx="64008" cy="2148840"/>
          </a:xfrm>
          <a:prstGeom prst="rect">
            <a:avLst/>
          </a:prstGeom>
          <a:solidFill>
            <a:srgbClr val="3355AA"/>
          </a:solidFill>
          <a:ln w="12700">
            <a:solidFill>
              <a:srgbClr val="3355AA"/>
            </a:solidFill>
            <a:prstDash val="solid"/>
          </a:ln>
        </p:spPr>
      </p:sp>
      <p:sp>
        <p:nvSpPr>
          <p:cNvPr id="16" name="Shape 14"/>
          <p:cNvSpPr/>
          <p:nvPr/>
        </p:nvSpPr>
        <p:spPr>
          <a:xfrm>
            <a:off x="6446520" y="1810512"/>
            <a:ext cx="822960" cy="201168"/>
          </a:xfrm>
          <a:prstGeom prst="rect">
            <a:avLst/>
          </a:prstGeom>
          <a:solidFill>
            <a:srgbClr val="0F1A2A"/>
          </a:solidFill>
          <a:ln w="12700">
            <a:solidFill>
              <a:srgbClr val="3355AA"/>
            </a:solidFill>
            <a:prstDash val="solid"/>
          </a:ln>
        </p:spPr>
      </p:sp>
      <p:sp>
        <p:nvSpPr>
          <p:cNvPr id="17" name="Text 15"/>
          <p:cNvSpPr/>
          <p:nvPr/>
        </p:nvSpPr>
        <p:spPr>
          <a:xfrm>
            <a:off x="6446520" y="1810512"/>
            <a:ext cx="822960" cy="201168"/>
          </a:xfrm>
          <a:prstGeom prst="rect">
            <a:avLst/>
          </a:prstGeom>
          <a:noFill/>
          <a:ln/>
        </p:spPr>
        <p:txBody>
          <a:bodyPr wrap="square" lIns="0" tIns="0" rIns="0" bIns="0" rtlCol="0" anchor="ctr"/>
          <a:lstStyle/>
          <a:p>
            <a:pPr algn="ctr" indent="0" marL="0">
              <a:buNone/>
            </a:pPr>
            <a:r>
              <a:rPr lang="en-US" sz="700" b="1" spc="100" kern="0" dirty="0">
                <a:solidFill>
                  <a:srgbClr val="3355AA"/>
                </a:solidFill>
                <a:latin typeface="Consolas" pitchFamily="34" charset="0"/>
                <a:ea typeface="Consolas" pitchFamily="34" charset="-122"/>
                <a:cs typeface="Consolas" pitchFamily="34" charset="-120"/>
              </a:rPr>
              <a:t>LEGAL</a:t>
            </a:r>
            <a:endParaRPr lang="en-US" sz="700" dirty="0"/>
          </a:p>
        </p:txBody>
      </p:sp>
      <p:sp>
        <p:nvSpPr>
          <p:cNvPr id="18" name="Text 16"/>
          <p:cNvSpPr/>
          <p:nvPr/>
        </p:nvSpPr>
        <p:spPr>
          <a:xfrm>
            <a:off x="6446520" y="2066544"/>
            <a:ext cx="5321808" cy="329184"/>
          </a:xfrm>
          <a:prstGeom prst="rect">
            <a:avLst/>
          </a:prstGeom>
          <a:noFill/>
          <a:ln/>
        </p:spPr>
        <p:txBody>
          <a:bodyPr wrap="square" lIns="0" tIns="0" rIns="0" bIns="0" rtlCol="0" anchor="ctr"/>
          <a:lstStyle/>
          <a:p>
            <a:pPr indent="0" marL="0">
              <a:buNone/>
            </a:pPr>
            <a:r>
              <a:rPr lang="en-US" sz="1100" b="1" dirty="0">
                <a:solidFill>
                  <a:srgbClr val="DDD8CC"/>
                </a:solidFill>
                <a:latin typeface="Georgia" pitchFamily="34" charset="0"/>
                <a:ea typeface="Georgia" pitchFamily="34" charset="-122"/>
                <a:cs typeface="Georgia" pitchFamily="34" charset="-120"/>
              </a:rPr>
              <a:t>Q: What does Kitco need to sign?</a:t>
            </a:r>
            <a:endParaRPr lang="en-US" sz="1100" dirty="0"/>
          </a:p>
        </p:txBody>
      </p:sp>
      <p:sp>
        <p:nvSpPr>
          <p:cNvPr id="19" name="Text 17"/>
          <p:cNvSpPr/>
          <p:nvPr/>
        </p:nvSpPr>
        <p:spPr>
          <a:xfrm>
            <a:off x="6446520" y="2432304"/>
            <a:ext cx="5321808" cy="1042416"/>
          </a:xfrm>
          <a:prstGeom prst="rect">
            <a:avLst/>
          </a:prstGeom>
          <a:noFill/>
          <a:ln/>
        </p:spPr>
        <p:txBody>
          <a:bodyPr wrap="square" lIns="0" tIns="0" rIns="0" bIns="0" rtlCol="0" anchor="ctr"/>
          <a:lstStyle/>
          <a:p>
            <a:pPr indent="0" marL="0">
              <a:buNone/>
            </a:pPr>
            <a:r>
              <a:rPr lang="en-US" sz="1050" dirty="0">
                <a:solidFill>
                  <a:srgbClr val="DDD8CC"/>
                </a:solidFill>
                <a:latin typeface="Calibri" pitchFamily="34" charset="0"/>
                <a:ea typeface="Calibri" pitchFamily="34" charset="-122"/>
                <a:cs typeface="Calibri" pitchFamily="34" charset="-120"/>
              </a:rPr>
              <a:t>For the initial phase, nothing formal — you're just providing a public feed that's already free. A simple email confirmation that you're comfortable with us attributing Kitco as the settlement source is sufficient to start. We can formalise the oracle partnership once we've proven the model.</a:t>
            </a:r>
            <a:endParaRPr lang="en-US" sz="1050" dirty="0"/>
          </a:p>
        </p:txBody>
      </p:sp>
      <p:sp>
        <p:nvSpPr>
          <p:cNvPr id="20" name="Shape 18"/>
          <p:cNvSpPr/>
          <p:nvPr/>
        </p:nvSpPr>
        <p:spPr>
          <a:xfrm>
            <a:off x="6446520" y="3529584"/>
            <a:ext cx="5321808" cy="237744"/>
          </a:xfrm>
          <a:prstGeom prst="rect">
            <a:avLst/>
          </a:prstGeom>
          <a:solidFill>
            <a:srgbClr val="0F1A2A"/>
          </a:solidFill>
          <a:ln w="12700">
            <a:solidFill>
              <a:srgbClr val="0F1A2A"/>
            </a:solidFill>
            <a:prstDash val="solid"/>
          </a:ln>
        </p:spPr>
      </p:sp>
      <p:sp>
        <p:nvSpPr>
          <p:cNvPr id="21" name="Text 19"/>
          <p:cNvSpPr/>
          <p:nvPr/>
        </p:nvSpPr>
        <p:spPr>
          <a:xfrm>
            <a:off x="6510528" y="3547872"/>
            <a:ext cx="5230368" cy="201168"/>
          </a:xfrm>
          <a:prstGeom prst="rect">
            <a:avLst/>
          </a:prstGeom>
          <a:noFill/>
          <a:ln/>
        </p:spPr>
        <p:txBody>
          <a:bodyPr wrap="square" lIns="0" tIns="0" rIns="0" bIns="0" rtlCol="0" anchor="ctr"/>
          <a:lstStyle/>
          <a:p>
            <a:pPr indent="0" marL="0">
              <a:buNone/>
            </a:pPr>
            <a:r>
              <a:rPr lang="en-US" sz="900" i="1" dirty="0">
                <a:solidFill>
                  <a:srgbClr val="3355AA"/>
                </a:solidFill>
                <a:latin typeface="Consolas" pitchFamily="34" charset="0"/>
                <a:ea typeface="Consolas" pitchFamily="34" charset="-122"/>
                <a:cs typeface="Consolas" pitchFamily="34" charset="-120"/>
              </a:rPr>
              <a:t>▸  Keep the ask small. Don't push for a contract on the first call.</a:t>
            </a:r>
            <a:endParaRPr lang="en-US" sz="900" dirty="0"/>
          </a:p>
        </p:txBody>
      </p:sp>
      <p:sp>
        <p:nvSpPr>
          <p:cNvPr id="22" name="Shape 20"/>
          <p:cNvSpPr/>
          <p:nvPr/>
        </p:nvSpPr>
        <p:spPr>
          <a:xfrm>
            <a:off x="457200" y="4050792"/>
            <a:ext cx="5577840" cy="2148840"/>
          </a:xfrm>
          <a:prstGeom prst="rect">
            <a:avLst/>
          </a:prstGeom>
          <a:solidFill>
            <a:srgbClr val="1C1C19"/>
          </a:solidFill>
          <a:ln w="12700">
            <a:solidFill>
              <a:srgbClr val="2A2A26"/>
            </a:solidFill>
            <a:prstDash val="solid"/>
          </a:ln>
        </p:spPr>
      </p:sp>
      <p:sp>
        <p:nvSpPr>
          <p:cNvPr id="23" name="Shape 21"/>
          <p:cNvSpPr/>
          <p:nvPr/>
        </p:nvSpPr>
        <p:spPr>
          <a:xfrm>
            <a:off x="457200" y="4050792"/>
            <a:ext cx="64008" cy="2148840"/>
          </a:xfrm>
          <a:prstGeom prst="rect">
            <a:avLst/>
          </a:prstGeom>
          <a:solidFill>
            <a:srgbClr val="3355AA"/>
          </a:solidFill>
          <a:ln w="12700">
            <a:solidFill>
              <a:srgbClr val="3355AA"/>
            </a:solidFill>
            <a:prstDash val="solid"/>
          </a:ln>
        </p:spPr>
      </p:sp>
      <p:sp>
        <p:nvSpPr>
          <p:cNvPr id="24" name="Shape 22"/>
          <p:cNvSpPr/>
          <p:nvPr/>
        </p:nvSpPr>
        <p:spPr>
          <a:xfrm>
            <a:off x="594360" y="4142232"/>
            <a:ext cx="822960" cy="201168"/>
          </a:xfrm>
          <a:prstGeom prst="rect">
            <a:avLst/>
          </a:prstGeom>
          <a:solidFill>
            <a:srgbClr val="0F1A2A"/>
          </a:solidFill>
          <a:ln w="12700">
            <a:solidFill>
              <a:srgbClr val="3355AA"/>
            </a:solidFill>
            <a:prstDash val="solid"/>
          </a:ln>
        </p:spPr>
      </p:sp>
      <p:sp>
        <p:nvSpPr>
          <p:cNvPr id="25" name="Text 23"/>
          <p:cNvSpPr/>
          <p:nvPr/>
        </p:nvSpPr>
        <p:spPr>
          <a:xfrm>
            <a:off x="594360" y="4142232"/>
            <a:ext cx="822960" cy="201168"/>
          </a:xfrm>
          <a:prstGeom prst="rect">
            <a:avLst/>
          </a:prstGeom>
          <a:noFill/>
          <a:ln/>
        </p:spPr>
        <p:txBody>
          <a:bodyPr wrap="square" lIns="0" tIns="0" rIns="0" bIns="0" rtlCol="0" anchor="ctr"/>
          <a:lstStyle/>
          <a:p>
            <a:pPr algn="ctr" indent="0" marL="0">
              <a:buNone/>
            </a:pPr>
            <a:r>
              <a:rPr lang="en-US" sz="700" b="1" spc="100" kern="0" dirty="0">
                <a:solidFill>
                  <a:srgbClr val="3355AA"/>
                </a:solidFill>
                <a:latin typeface="Consolas" pitchFamily="34" charset="0"/>
                <a:ea typeface="Consolas" pitchFamily="34" charset="-122"/>
                <a:cs typeface="Consolas" pitchFamily="34" charset="-120"/>
              </a:rPr>
              <a:t>LEGAL</a:t>
            </a:r>
            <a:endParaRPr lang="en-US" sz="700" dirty="0"/>
          </a:p>
        </p:txBody>
      </p:sp>
      <p:sp>
        <p:nvSpPr>
          <p:cNvPr id="26" name="Text 24"/>
          <p:cNvSpPr/>
          <p:nvPr/>
        </p:nvSpPr>
        <p:spPr>
          <a:xfrm>
            <a:off x="594360" y="4398264"/>
            <a:ext cx="5321808" cy="329184"/>
          </a:xfrm>
          <a:prstGeom prst="rect">
            <a:avLst/>
          </a:prstGeom>
          <a:noFill/>
          <a:ln/>
        </p:spPr>
        <p:txBody>
          <a:bodyPr wrap="square" lIns="0" tIns="0" rIns="0" bIns="0" rtlCol="0" anchor="ctr"/>
          <a:lstStyle/>
          <a:p>
            <a:pPr indent="0" marL="0">
              <a:buNone/>
            </a:pPr>
            <a:r>
              <a:rPr lang="en-US" sz="1100" b="1" dirty="0">
                <a:solidFill>
                  <a:srgbClr val="DDD8CC"/>
                </a:solidFill>
                <a:latin typeface="Georgia" pitchFamily="34" charset="0"/>
                <a:ea typeface="Georgia" pitchFamily="34" charset="-122"/>
                <a:cs typeface="Georgia" pitchFamily="34" charset="-120"/>
              </a:rPr>
              <a:t>Q: What if someone loses money and blames Kitco's price data?</a:t>
            </a:r>
            <a:endParaRPr lang="en-US" sz="1100" dirty="0"/>
          </a:p>
        </p:txBody>
      </p:sp>
      <p:sp>
        <p:nvSpPr>
          <p:cNvPr id="27" name="Text 25"/>
          <p:cNvSpPr/>
          <p:nvPr/>
        </p:nvSpPr>
        <p:spPr>
          <a:xfrm>
            <a:off x="594360" y="4764024"/>
            <a:ext cx="5321808" cy="1042416"/>
          </a:xfrm>
          <a:prstGeom prst="rect">
            <a:avLst/>
          </a:prstGeom>
          <a:noFill/>
          <a:ln/>
        </p:spPr>
        <p:txBody>
          <a:bodyPr wrap="square" lIns="0" tIns="0" rIns="0" bIns="0" rtlCol="0" anchor="ctr"/>
          <a:lstStyle/>
          <a:p>
            <a:pPr indent="0" marL="0">
              <a:buNone/>
            </a:pPr>
            <a:r>
              <a:rPr lang="en-US" sz="1050" dirty="0">
                <a:solidFill>
                  <a:srgbClr val="DDD8CC"/>
                </a:solidFill>
                <a:latin typeface="Calibri" pitchFamily="34" charset="0"/>
                <a:ea typeface="Calibri" pitchFamily="34" charset="-122"/>
                <a:cs typeface="Calibri" pitchFamily="34" charset="-120"/>
              </a:rPr>
              <a:t>Your price data is a settlement source, not investment advice — same prices you publish for free today. We include clear disclaimer language that Kitco is the price oracle and settlement is based on published spot prices at market close. You'd review that language before we go live.</a:t>
            </a:r>
            <a:endParaRPr lang="en-US" sz="1050" dirty="0"/>
          </a:p>
        </p:txBody>
      </p:sp>
      <p:sp>
        <p:nvSpPr>
          <p:cNvPr id="28" name="Shape 26"/>
          <p:cNvSpPr/>
          <p:nvPr/>
        </p:nvSpPr>
        <p:spPr>
          <a:xfrm>
            <a:off x="594360" y="5861304"/>
            <a:ext cx="5321808" cy="237744"/>
          </a:xfrm>
          <a:prstGeom prst="rect">
            <a:avLst/>
          </a:prstGeom>
          <a:solidFill>
            <a:srgbClr val="0F1A2A"/>
          </a:solidFill>
          <a:ln w="12700">
            <a:solidFill>
              <a:srgbClr val="0F1A2A"/>
            </a:solidFill>
            <a:prstDash val="solid"/>
          </a:ln>
        </p:spPr>
      </p:sp>
      <p:sp>
        <p:nvSpPr>
          <p:cNvPr id="29" name="Text 27"/>
          <p:cNvSpPr/>
          <p:nvPr/>
        </p:nvSpPr>
        <p:spPr>
          <a:xfrm>
            <a:off x="658368" y="5879592"/>
            <a:ext cx="5230368" cy="201168"/>
          </a:xfrm>
          <a:prstGeom prst="rect">
            <a:avLst/>
          </a:prstGeom>
          <a:noFill/>
          <a:ln/>
        </p:spPr>
        <p:txBody>
          <a:bodyPr wrap="square" lIns="0" tIns="0" rIns="0" bIns="0" rtlCol="0" anchor="ctr"/>
          <a:lstStyle/>
          <a:p>
            <a:pPr indent="0" marL="0">
              <a:buNone/>
            </a:pPr>
            <a:r>
              <a:rPr lang="en-US" sz="900" i="1" dirty="0">
                <a:solidFill>
                  <a:srgbClr val="3355AA"/>
                </a:solidFill>
                <a:latin typeface="Consolas" pitchFamily="34" charset="0"/>
                <a:ea typeface="Consolas" pitchFamily="34" charset="-122"/>
                <a:cs typeface="Consolas" pitchFamily="34" charset="-120"/>
              </a:rPr>
              <a:t>▸  Offer them review rights over the disclaimer language — shows respect.</a:t>
            </a:r>
            <a:endParaRPr lang="en-US" sz="900" dirty="0"/>
          </a:p>
        </p:txBody>
      </p:sp>
      <p:sp>
        <p:nvSpPr>
          <p:cNvPr id="30" name="Shape 28"/>
          <p:cNvSpPr/>
          <p:nvPr/>
        </p:nvSpPr>
        <p:spPr>
          <a:xfrm>
            <a:off x="6309360" y="4050792"/>
            <a:ext cx="5577840" cy="2148840"/>
          </a:xfrm>
          <a:prstGeom prst="rect">
            <a:avLst/>
          </a:prstGeom>
          <a:solidFill>
            <a:srgbClr val="1C1C19"/>
          </a:solidFill>
          <a:ln w="12700">
            <a:solidFill>
              <a:srgbClr val="2A2A26"/>
            </a:solidFill>
            <a:prstDash val="solid"/>
          </a:ln>
        </p:spPr>
      </p:sp>
      <p:sp>
        <p:nvSpPr>
          <p:cNvPr id="31" name="Shape 29"/>
          <p:cNvSpPr/>
          <p:nvPr/>
        </p:nvSpPr>
        <p:spPr>
          <a:xfrm>
            <a:off x="6309360" y="4050792"/>
            <a:ext cx="64008" cy="2148840"/>
          </a:xfrm>
          <a:prstGeom prst="rect">
            <a:avLst/>
          </a:prstGeom>
          <a:solidFill>
            <a:srgbClr val="3355AA"/>
          </a:solidFill>
          <a:ln w="12700">
            <a:solidFill>
              <a:srgbClr val="3355AA"/>
            </a:solidFill>
            <a:prstDash val="solid"/>
          </a:ln>
        </p:spPr>
      </p:sp>
      <p:sp>
        <p:nvSpPr>
          <p:cNvPr id="32" name="Shape 30"/>
          <p:cNvSpPr/>
          <p:nvPr/>
        </p:nvSpPr>
        <p:spPr>
          <a:xfrm>
            <a:off x="6446520" y="4142232"/>
            <a:ext cx="822960" cy="201168"/>
          </a:xfrm>
          <a:prstGeom prst="rect">
            <a:avLst/>
          </a:prstGeom>
          <a:solidFill>
            <a:srgbClr val="0F1A2A"/>
          </a:solidFill>
          <a:ln w="12700">
            <a:solidFill>
              <a:srgbClr val="3355AA"/>
            </a:solidFill>
            <a:prstDash val="solid"/>
          </a:ln>
        </p:spPr>
      </p:sp>
      <p:sp>
        <p:nvSpPr>
          <p:cNvPr id="33" name="Text 31"/>
          <p:cNvSpPr/>
          <p:nvPr/>
        </p:nvSpPr>
        <p:spPr>
          <a:xfrm>
            <a:off x="6446520" y="4142232"/>
            <a:ext cx="822960" cy="201168"/>
          </a:xfrm>
          <a:prstGeom prst="rect">
            <a:avLst/>
          </a:prstGeom>
          <a:noFill/>
          <a:ln/>
        </p:spPr>
        <p:txBody>
          <a:bodyPr wrap="square" lIns="0" tIns="0" rIns="0" bIns="0" rtlCol="0" anchor="ctr"/>
          <a:lstStyle/>
          <a:p>
            <a:pPr algn="ctr" indent="0" marL="0">
              <a:buNone/>
            </a:pPr>
            <a:r>
              <a:rPr lang="en-US" sz="700" b="1" spc="100" kern="0" dirty="0">
                <a:solidFill>
                  <a:srgbClr val="3355AA"/>
                </a:solidFill>
                <a:latin typeface="Consolas" pitchFamily="34" charset="0"/>
                <a:ea typeface="Consolas" pitchFamily="34" charset="-122"/>
                <a:cs typeface="Consolas" pitchFamily="34" charset="-120"/>
              </a:rPr>
              <a:t>LEGAL</a:t>
            </a:r>
            <a:endParaRPr lang="en-US" sz="700" dirty="0"/>
          </a:p>
        </p:txBody>
      </p:sp>
      <p:sp>
        <p:nvSpPr>
          <p:cNvPr id="34" name="Text 32"/>
          <p:cNvSpPr/>
          <p:nvPr/>
        </p:nvSpPr>
        <p:spPr>
          <a:xfrm>
            <a:off x="6446520" y="4398264"/>
            <a:ext cx="5321808" cy="329184"/>
          </a:xfrm>
          <a:prstGeom prst="rect">
            <a:avLst/>
          </a:prstGeom>
          <a:noFill/>
          <a:ln/>
        </p:spPr>
        <p:txBody>
          <a:bodyPr wrap="square" lIns="0" tIns="0" rIns="0" bIns="0" rtlCol="0" anchor="ctr"/>
          <a:lstStyle/>
          <a:p>
            <a:pPr indent="0" marL="0">
              <a:buNone/>
            </a:pPr>
            <a:r>
              <a:rPr lang="en-US" sz="1100" b="1" dirty="0">
                <a:solidFill>
                  <a:srgbClr val="DDD8CC"/>
                </a:solidFill>
                <a:latin typeface="Georgia" pitchFamily="34" charset="0"/>
                <a:ea typeface="Georgia" pitchFamily="34" charset="-122"/>
                <a:cs typeface="Georgia" pitchFamily="34" charset="-120"/>
              </a:rPr>
              <a:t>Q: Our legal team will need to review this.</a:t>
            </a:r>
            <a:endParaRPr lang="en-US" sz="1100" dirty="0"/>
          </a:p>
        </p:txBody>
      </p:sp>
      <p:sp>
        <p:nvSpPr>
          <p:cNvPr id="35" name="Text 33"/>
          <p:cNvSpPr/>
          <p:nvPr/>
        </p:nvSpPr>
        <p:spPr>
          <a:xfrm>
            <a:off x="6446520" y="4764024"/>
            <a:ext cx="5321808" cy="1042416"/>
          </a:xfrm>
          <a:prstGeom prst="rect">
            <a:avLst/>
          </a:prstGeom>
          <a:noFill/>
          <a:ln/>
        </p:spPr>
        <p:txBody>
          <a:bodyPr wrap="square" lIns="0" tIns="0" rIns="0" bIns="0" rtlCol="0" anchor="ctr"/>
          <a:lstStyle/>
          <a:p>
            <a:pPr indent="0" marL="0">
              <a:buNone/>
            </a:pPr>
            <a:r>
              <a:rPr lang="en-US" sz="1050" dirty="0">
                <a:solidFill>
                  <a:srgbClr val="DDD8CC"/>
                </a:solidFill>
                <a:latin typeface="Calibri" pitchFamily="34" charset="0"/>
                <a:ea typeface="Calibri" pitchFamily="34" charset="-122"/>
                <a:cs typeface="Calibri" pitchFamily="34" charset="-120"/>
              </a:rPr>
              <a:t>Completely expected. The formal oracle integration isn't needed until mainnet deployment, still weeks away. What I'm looking for today is a directional yes — that you're open to exploring this — so we keep building with Kitco in mind as the preferred data source.</a:t>
            </a:r>
            <a:endParaRPr lang="en-US" sz="1050" dirty="0"/>
          </a:p>
        </p:txBody>
      </p:sp>
      <p:sp>
        <p:nvSpPr>
          <p:cNvPr id="36" name="Shape 34"/>
          <p:cNvSpPr/>
          <p:nvPr/>
        </p:nvSpPr>
        <p:spPr>
          <a:xfrm>
            <a:off x="6446520" y="5861304"/>
            <a:ext cx="5321808" cy="237744"/>
          </a:xfrm>
          <a:prstGeom prst="rect">
            <a:avLst/>
          </a:prstGeom>
          <a:solidFill>
            <a:srgbClr val="0F1A2A"/>
          </a:solidFill>
          <a:ln w="12700">
            <a:solidFill>
              <a:srgbClr val="0F1A2A"/>
            </a:solidFill>
            <a:prstDash val="solid"/>
          </a:ln>
        </p:spPr>
      </p:sp>
      <p:sp>
        <p:nvSpPr>
          <p:cNvPr id="37" name="Text 35"/>
          <p:cNvSpPr/>
          <p:nvPr/>
        </p:nvSpPr>
        <p:spPr>
          <a:xfrm>
            <a:off x="6510528" y="5879592"/>
            <a:ext cx="5230368" cy="201168"/>
          </a:xfrm>
          <a:prstGeom prst="rect">
            <a:avLst/>
          </a:prstGeom>
          <a:noFill/>
          <a:ln/>
        </p:spPr>
        <p:txBody>
          <a:bodyPr wrap="square" lIns="0" tIns="0" rIns="0" bIns="0" rtlCol="0" anchor="ctr"/>
          <a:lstStyle/>
          <a:p>
            <a:pPr indent="0" marL="0">
              <a:buNone/>
            </a:pPr>
            <a:r>
              <a:rPr lang="en-US" sz="900" i="1" dirty="0">
                <a:solidFill>
                  <a:srgbClr val="3355AA"/>
                </a:solidFill>
                <a:latin typeface="Consolas" pitchFamily="34" charset="0"/>
                <a:ea typeface="Consolas" pitchFamily="34" charset="-122"/>
                <a:cs typeface="Consolas" pitchFamily="34" charset="-120"/>
              </a:rPr>
              <a:t>▸  Don't rush them. Patience here wins the deal.</a:t>
            </a:r>
            <a:endParaRPr lang="en-US" sz="900" dirty="0"/>
          </a:p>
        </p:txBody>
      </p:sp>
      <p:sp>
        <p:nvSpPr>
          <p:cNvPr id="38" name="Text 36"/>
          <p:cNvSpPr/>
          <p:nvPr/>
        </p:nvSpPr>
        <p:spPr>
          <a:xfrm>
            <a:off x="365760" y="6492240"/>
            <a:ext cx="2743200" cy="228600"/>
          </a:xfrm>
          <a:prstGeom prst="rect">
            <a:avLst/>
          </a:prstGeom>
          <a:noFill/>
          <a:ln/>
        </p:spPr>
        <p:txBody>
          <a:bodyPr wrap="square" lIns="0" tIns="0" rIns="0" bIns="0" rtlCol="0" anchor="ctr"/>
          <a:lstStyle/>
          <a:p>
            <a:pPr indent="0" marL="0">
              <a:buNone/>
            </a:pPr>
            <a:r>
              <a:rPr lang="en-US" sz="900" b="1" spc="200" kern="0" dirty="0">
                <a:solidFill>
                  <a:srgbClr val="C9920D"/>
                </a:solidFill>
                <a:latin typeface="Consolas" pitchFamily="34" charset="0"/>
                <a:ea typeface="Consolas" pitchFamily="34" charset="-122"/>
                <a:cs typeface="Consolas" pitchFamily="34" charset="-120"/>
              </a:rPr>
              <a:t>◆ HYPERFLEX</a:t>
            </a:r>
            <a:endParaRPr lang="en-US" sz="900" dirty="0"/>
          </a:p>
        </p:txBody>
      </p:sp>
      <p:sp>
        <p:nvSpPr>
          <p:cNvPr id="39" name="Text 37"/>
          <p:cNvSpPr/>
          <p:nvPr/>
        </p:nvSpPr>
        <p:spPr>
          <a:xfrm>
            <a:off x="9052560" y="6492240"/>
            <a:ext cx="2743200" cy="228600"/>
          </a:xfrm>
          <a:prstGeom prst="rect">
            <a:avLst/>
          </a:prstGeom>
          <a:noFill/>
          <a:ln/>
        </p:spPr>
        <p:txBody>
          <a:bodyPr wrap="square" lIns="0" tIns="0" rIns="0" bIns="0" rtlCol="0" anchor="ctr"/>
          <a:lstStyle/>
          <a:p>
            <a:pPr algn="r" indent="0" marL="0">
              <a:buNone/>
            </a:pPr>
            <a:r>
              <a:rPr lang="en-US" sz="800" spc="100" kern="0" dirty="0">
                <a:solidFill>
                  <a:srgbClr val="7A7870"/>
                </a:solidFill>
                <a:latin typeface="Consolas" pitchFamily="34" charset="0"/>
                <a:ea typeface="Consolas" pitchFamily="34" charset="-122"/>
                <a:cs typeface="Consolas" pitchFamily="34" charset="-120"/>
              </a:rPr>
              <a:t>SECTION 03 — LEGAL &amp; COMPLIANCE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2"/>
        </a:solidFill>
      </p:bgPr>
    </p:bg>
    <p:spTree>
      <p:nvGrpSpPr>
        <p:cNvPr id="1" name=""/>
        <p:cNvGrpSpPr/>
        <p:nvPr/>
      </p:nvGrpSpPr>
      <p:grpSpPr>
        <a:xfrm>
          <a:off x="0" y="0"/>
          <a:ext cx="0" cy="0"/>
          <a:chOff x="0" y="0"/>
          <a:chExt cx="0" cy="0"/>
        </a:xfrm>
      </p:grpSpPr>
      <p:sp>
        <p:nvSpPr>
          <p:cNvPr id="2" name="Shape 0"/>
          <p:cNvSpPr/>
          <p:nvPr/>
        </p:nvSpPr>
        <p:spPr>
          <a:xfrm>
            <a:off x="457200" y="274320"/>
            <a:ext cx="2011680" cy="274320"/>
          </a:xfrm>
          <a:prstGeom prst="rect">
            <a:avLst/>
          </a:prstGeom>
          <a:solidFill>
            <a:srgbClr val="C0392B"/>
          </a:solidFill>
          <a:ln w="12700">
            <a:solidFill>
              <a:srgbClr val="C0392B"/>
            </a:solidFill>
            <a:prstDash val="solid"/>
          </a:ln>
        </p:spPr>
      </p:sp>
      <p:sp>
        <p:nvSpPr>
          <p:cNvPr id="3" name="Text 1"/>
          <p:cNvSpPr/>
          <p:nvPr/>
        </p:nvSpPr>
        <p:spPr>
          <a:xfrm>
            <a:off x="457200" y="274320"/>
            <a:ext cx="2011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onsolas" pitchFamily="34" charset="0"/>
                <a:ea typeface="Consolas" pitchFamily="34" charset="-122"/>
                <a:cs typeface="Consolas" pitchFamily="34" charset="-120"/>
              </a:rPr>
              <a:t>SECTION 04 + 05</a:t>
            </a:r>
            <a:endParaRPr lang="en-US" sz="900" dirty="0"/>
          </a:p>
        </p:txBody>
      </p:sp>
      <p:sp>
        <p:nvSpPr>
          <p:cNvPr id="4" name="Text 2"/>
          <p:cNvSpPr/>
          <p:nvPr/>
        </p:nvSpPr>
        <p:spPr>
          <a:xfrm>
            <a:off x="457200" y="658368"/>
            <a:ext cx="10972800" cy="594360"/>
          </a:xfrm>
          <a:prstGeom prst="rect">
            <a:avLst/>
          </a:prstGeom>
          <a:noFill/>
          <a:ln/>
        </p:spPr>
        <p:txBody>
          <a:bodyPr wrap="square" lIns="0" tIns="0" rIns="0" bIns="0" rtlCol="0" anchor="ctr"/>
          <a:lstStyle/>
          <a:p>
            <a:pPr indent="0" marL="0">
              <a:buNone/>
            </a:pPr>
            <a:r>
              <a:rPr lang="en-US" sz="3600" b="1" dirty="0">
                <a:solidFill>
                  <a:srgbClr val="DDD8CC"/>
                </a:solidFill>
                <a:latin typeface="Georgia" pitchFamily="34" charset="0"/>
                <a:ea typeface="Georgia" pitchFamily="34" charset="-122"/>
                <a:cs typeface="Georgia" pitchFamily="34" charset="-120"/>
              </a:rPr>
              <a:t>Business Questions &amp; Hard Stops</a:t>
            </a:r>
            <a:endParaRPr lang="en-US" sz="3600" dirty="0"/>
          </a:p>
        </p:txBody>
      </p:sp>
      <p:sp>
        <p:nvSpPr>
          <p:cNvPr id="5" name="Text 3"/>
          <p:cNvSpPr/>
          <p:nvPr/>
        </p:nvSpPr>
        <p:spPr>
          <a:xfrm>
            <a:off x="457200" y="1389888"/>
            <a:ext cx="4572000" cy="201168"/>
          </a:xfrm>
          <a:prstGeom prst="rect">
            <a:avLst/>
          </a:prstGeom>
          <a:noFill/>
          <a:ln/>
        </p:spPr>
        <p:txBody>
          <a:bodyPr wrap="square" lIns="0" tIns="0" rIns="0" bIns="0" rtlCol="0" anchor="ctr"/>
          <a:lstStyle/>
          <a:p>
            <a:pPr indent="0" marL="0">
              <a:buNone/>
            </a:pPr>
            <a:r>
              <a:rPr lang="en-US" sz="800" b="1" spc="300" kern="0" dirty="0">
                <a:solidFill>
                  <a:srgbClr val="C9920D"/>
                </a:solidFill>
                <a:latin typeface="Consolas" pitchFamily="34" charset="0"/>
                <a:ea typeface="Consolas" pitchFamily="34" charset="-122"/>
                <a:cs typeface="Consolas" pitchFamily="34" charset="-120"/>
              </a:rPr>
              <a:t>BUSINESS QUESTIONS</a:t>
            </a:r>
            <a:endParaRPr lang="en-US" sz="800" dirty="0"/>
          </a:p>
        </p:txBody>
      </p:sp>
      <p:sp>
        <p:nvSpPr>
          <p:cNvPr id="6" name="Shape 4"/>
          <p:cNvSpPr/>
          <p:nvPr/>
        </p:nvSpPr>
        <p:spPr>
          <a:xfrm>
            <a:off x="457200" y="1664208"/>
            <a:ext cx="5303520" cy="1444752"/>
          </a:xfrm>
          <a:prstGeom prst="rect">
            <a:avLst/>
          </a:prstGeom>
          <a:solidFill>
            <a:srgbClr val="1C1C19"/>
          </a:solidFill>
          <a:ln w="12700">
            <a:solidFill>
              <a:srgbClr val="2A2A26"/>
            </a:solidFill>
            <a:prstDash val="solid"/>
          </a:ln>
        </p:spPr>
      </p:sp>
      <p:sp>
        <p:nvSpPr>
          <p:cNvPr id="7" name="Shape 5"/>
          <p:cNvSpPr/>
          <p:nvPr/>
        </p:nvSpPr>
        <p:spPr>
          <a:xfrm>
            <a:off x="457200" y="1664208"/>
            <a:ext cx="64008" cy="1444752"/>
          </a:xfrm>
          <a:prstGeom prst="rect">
            <a:avLst/>
          </a:prstGeom>
          <a:solidFill>
            <a:srgbClr val="F5C842"/>
          </a:solidFill>
          <a:ln w="12700">
            <a:solidFill>
              <a:srgbClr val="F5C842"/>
            </a:solidFill>
            <a:prstDash val="solid"/>
          </a:ln>
        </p:spPr>
      </p:sp>
      <p:sp>
        <p:nvSpPr>
          <p:cNvPr id="8" name="Text 6"/>
          <p:cNvSpPr/>
          <p:nvPr/>
        </p:nvSpPr>
        <p:spPr>
          <a:xfrm>
            <a:off x="640080" y="1755648"/>
            <a:ext cx="4937760" cy="256032"/>
          </a:xfrm>
          <a:prstGeom prst="rect">
            <a:avLst/>
          </a:prstGeom>
          <a:noFill/>
          <a:ln/>
        </p:spPr>
        <p:txBody>
          <a:bodyPr wrap="square" lIns="0" tIns="0" rIns="0" bIns="0" rtlCol="0" anchor="ctr"/>
          <a:lstStyle/>
          <a:p>
            <a:pPr indent="0" marL="0">
              <a:buNone/>
            </a:pPr>
            <a:r>
              <a:rPr lang="en-US" sz="1100" b="1" dirty="0">
                <a:solidFill>
                  <a:srgbClr val="DDD8CC"/>
                </a:solidFill>
                <a:latin typeface="Georgia" pitchFamily="34" charset="0"/>
                <a:ea typeface="Georgia" pitchFamily="34" charset="-122"/>
                <a:cs typeface="Georgia" pitchFamily="34" charset="-120"/>
              </a:rPr>
              <a:t>Q: Are you funded?</a:t>
            </a:r>
            <a:endParaRPr lang="en-US" sz="1100" dirty="0"/>
          </a:p>
        </p:txBody>
      </p:sp>
      <p:sp>
        <p:nvSpPr>
          <p:cNvPr id="9" name="Text 7"/>
          <p:cNvSpPr/>
          <p:nvPr/>
        </p:nvSpPr>
        <p:spPr>
          <a:xfrm>
            <a:off x="640080" y="2048256"/>
            <a:ext cx="4937760" cy="749808"/>
          </a:xfrm>
          <a:prstGeom prst="rect">
            <a:avLst/>
          </a:prstGeom>
          <a:noFill/>
          <a:ln/>
        </p:spPr>
        <p:txBody>
          <a:bodyPr wrap="square" lIns="0" tIns="0" rIns="0" bIns="0" rtlCol="0" anchor="ctr"/>
          <a:lstStyle/>
          <a:p>
            <a:pPr indent="0" marL="0">
              <a:buNone/>
            </a:pPr>
            <a:r>
              <a:rPr lang="en-US" sz="1050" dirty="0">
                <a:solidFill>
                  <a:srgbClr val="DDD8CC"/>
                </a:solidFill>
                <a:latin typeface="Calibri" pitchFamily="34" charset="0"/>
                <a:ea typeface="Calibri" pitchFamily="34" charset="-122"/>
                <a:cs typeface="Calibri" pitchFamily="34" charset="-120"/>
              </a:rPr>
              <a:t>Active grant application with the HyperLiquid Foundation, early conversations with institutional supporters. We're at prototype stage — which is why I'm talking to you now, not after launch.</a:t>
            </a:r>
            <a:endParaRPr lang="en-US" sz="1050" dirty="0"/>
          </a:p>
        </p:txBody>
      </p:sp>
      <p:sp>
        <p:nvSpPr>
          <p:cNvPr id="10" name="Shape 8"/>
          <p:cNvSpPr/>
          <p:nvPr/>
        </p:nvSpPr>
        <p:spPr>
          <a:xfrm>
            <a:off x="640080" y="2852928"/>
            <a:ext cx="4937760" cy="201168"/>
          </a:xfrm>
          <a:prstGeom prst="rect">
            <a:avLst/>
          </a:prstGeom>
          <a:solidFill>
            <a:srgbClr val="2A2416"/>
          </a:solidFill>
          <a:ln w="12700">
            <a:solidFill>
              <a:srgbClr val="2A2416"/>
            </a:solidFill>
            <a:prstDash val="solid"/>
          </a:ln>
        </p:spPr>
      </p:sp>
      <p:sp>
        <p:nvSpPr>
          <p:cNvPr id="11" name="Text 9"/>
          <p:cNvSpPr/>
          <p:nvPr/>
        </p:nvSpPr>
        <p:spPr>
          <a:xfrm>
            <a:off x="749808" y="2862072"/>
            <a:ext cx="4754880" cy="182880"/>
          </a:xfrm>
          <a:prstGeom prst="rect">
            <a:avLst/>
          </a:prstGeom>
          <a:noFill/>
          <a:ln/>
        </p:spPr>
        <p:txBody>
          <a:bodyPr wrap="square" lIns="0" tIns="0" rIns="0" bIns="0" rtlCol="0" anchor="ctr"/>
          <a:lstStyle/>
          <a:p>
            <a:pPr indent="0" marL="0">
              <a:buNone/>
            </a:pPr>
            <a:r>
              <a:rPr lang="en-US" sz="850" i="1" dirty="0">
                <a:solidFill>
                  <a:srgbClr val="C9920D"/>
                </a:solidFill>
                <a:latin typeface="Consolas" pitchFamily="34" charset="0"/>
                <a:ea typeface="Consolas" pitchFamily="34" charset="-122"/>
                <a:cs typeface="Consolas" pitchFamily="34" charset="-120"/>
              </a:rPr>
              <a:t>▸  Don't say unfunded. Frame it as early-stage momentum.</a:t>
            </a:r>
            <a:endParaRPr lang="en-US" sz="850" dirty="0"/>
          </a:p>
        </p:txBody>
      </p:sp>
      <p:sp>
        <p:nvSpPr>
          <p:cNvPr id="12" name="Shape 10"/>
          <p:cNvSpPr/>
          <p:nvPr/>
        </p:nvSpPr>
        <p:spPr>
          <a:xfrm>
            <a:off x="457200" y="3273552"/>
            <a:ext cx="5303520" cy="1444752"/>
          </a:xfrm>
          <a:prstGeom prst="rect">
            <a:avLst/>
          </a:prstGeom>
          <a:solidFill>
            <a:srgbClr val="1C1C19"/>
          </a:solidFill>
          <a:ln w="12700">
            <a:solidFill>
              <a:srgbClr val="2A2A26"/>
            </a:solidFill>
            <a:prstDash val="solid"/>
          </a:ln>
        </p:spPr>
      </p:sp>
      <p:sp>
        <p:nvSpPr>
          <p:cNvPr id="13" name="Shape 11"/>
          <p:cNvSpPr/>
          <p:nvPr/>
        </p:nvSpPr>
        <p:spPr>
          <a:xfrm>
            <a:off x="457200" y="3273552"/>
            <a:ext cx="64008" cy="1444752"/>
          </a:xfrm>
          <a:prstGeom prst="rect">
            <a:avLst/>
          </a:prstGeom>
          <a:solidFill>
            <a:srgbClr val="F5C842"/>
          </a:solidFill>
          <a:ln w="12700">
            <a:solidFill>
              <a:srgbClr val="F5C842"/>
            </a:solidFill>
            <a:prstDash val="solid"/>
          </a:ln>
        </p:spPr>
      </p:sp>
      <p:sp>
        <p:nvSpPr>
          <p:cNvPr id="14" name="Text 12"/>
          <p:cNvSpPr/>
          <p:nvPr/>
        </p:nvSpPr>
        <p:spPr>
          <a:xfrm>
            <a:off x="640080" y="3364992"/>
            <a:ext cx="4937760" cy="256032"/>
          </a:xfrm>
          <a:prstGeom prst="rect">
            <a:avLst/>
          </a:prstGeom>
          <a:noFill/>
          <a:ln/>
        </p:spPr>
        <p:txBody>
          <a:bodyPr wrap="square" lIns="0" tIns="0" rIns="0" bIns="0" rtlCol="0" anchor="ctr"/>
          <a:lstStyle/>
          <a:p>
            <a:pPr indent="0" marL="0">
              <a:buNone/>
            </a:pPr>
            <a:r>
              <a:rPr lang="en-US" sz="1100" b="1" dirty="0">
                <a:solidFill>
                  <a:srgbClr val="DDD8CC"/>
                </a:solidFill>
                <a:latin typeface="Georgia" pitchFamily="34" charset="0"/>
                <a:ea typeface="Georgia" pitchFamily="34" charset="-122"/>
                <a:cs typeface="Georgia" pitchFamily="34" charset="-120"/>
              </a:rPr>
              <a:t>Q: Have you talked to any of our competitors?</a:t>
            </a:r>
            <a:endParaRPr lang="en-US" sz="1100" dirty="0"/>
          </a:p>
        </p:txBody>
      </p:sp>
      <p:sp>
        <p:nvSpPr>
          <p:cNvPr id="15" name="Text 13"/>
          <p:cNvSpPr/>
          <p:nvPr/>
        </p:nvSpPr>
        <p:spPr>
          <a:xfrm>
            <a:off x="640080" y="3657600"/>
            <a:ext cx="4937760" cy="749808"/>
          </a:xfrm>
          <a:prstGeom prst="rect">
            <a:avLst/>
          </a:prstGeom>
          <a:noFill/>
          <a:ln/>
        </p:spPr>
        <p:txBody>
          <a:bodyPr wrap="square" lIns="0" tIns="0" rIns="0" bIns="0" rtlCol="0" anchor="ctr"/>
          <a:lstStyle/>
          <a:p>
            <a:pPr indent="0" marL="0">
              <a:buNone/>
            </a:pPr>
            <a:r>
              <a:rPr lang="en-US" sz="1050" dirty="0">
                <a:solidFill>
                  <a:srgbClr val="DDD8CC"/>
                </a:solidFill>
                <a:latin typeface="Calibri" pitchFamily="34" charset="0"/>
                <a:ea typeface="Calibri" pitchFamily="34" charset="-122"/>
                <a:cs typeface="Calibri" pitchFamily="34" charset="-120"/>
              </a:rPr>
              <a:t>Kitco is our first and preferred conversation. We chose you first because of the depth of your commodity coverage and reader trust.</a:t>
            </a:r>
            <a:endParaRPr lang="en-US" sz="1050" dirty="0"/>
          </a:p>
        </p:txBody>
      </p:sp>
      <p:sp>
        <p:nvSpPr>
          <p:cNvPr id="16" name="Shape 14"/>
          <p:cNvSpPr/>
          <p:nvPr/>
        </p:nvSpPr>
        <p:spPr>
          <a:xfrm>
            <a:off x="640080" y="4462272"/>
            <a:ext cx="4937760" cy="201168"/>
          </a:xfrm>
          <a:prstGeom prst="rect">
            <a:avLst/>
          </a:prstGeom>
          <a:solidFill>
            <a:srgbClr val="2A2416"/>
          </a:solidFill>
          <a:ln w="12700">
            <a:solidFill>
              <a:srgbClr val="2A2416"/>
            </a:solidFill>
            <a:prstDash val="solid"/>
          </a:ln>
        </p:spPr>
      </p:sp>
      <p:sp>
        <p:nvSpPr>
          <p:cNvPr id="17" name="Text 15"/>
          <p:cNvSpPr/>
          <p:nvPr/>
        </p:nvSpPr>
        <p:spPr>
          <a:xfrm>
            <a:off x="749808" y="4471416"/>
            <a:ext cx="4754880" cy="182880"/>
          </a:xfrm>
          <a:prstGeom prst="rect">
            <a:avLst/>
          </a:prstGeom>
          <a:noFill/>
          <a:ln/>
        </p:spPr>
        <p:txBody>
          <a:bodyPr wrap="square" lIns="0" tIns="0" rIns="0" bIns="0" rtlCol="0" anchor="ctr"/>
          <a:lstStyle/>
          <a:p>
            <a:pPr indent="0" marL="0">
              <a:buNone/>
            </a:pPr>
            <a:r>
              <a:rPr lang="en-US" sz="850" i="1" dirty="0">
                <a:solidFill>
                  <a:srgbClr val="C9920D"/>
                </a:solidFill>
                <a:latin typeface="Consolas" pitchFamily="34" charset="0"/>
                <a:ea typeface="Consolas" pitchFamily="34" charset="-122"/>
                <a:cs typeface="Consolas" pitchFamily="34" charset="-120"/>
              </a:rPr>
              <a:t>▸  Do NOT mention Mining.com. Ever. Full stop.</a:t>
            </a:r>
            <a:endParaRPr lang="en-US" sz="850" dirty="0"/>
          </a:p>
        </p:txBody>
      </p:sp>
      <p:sp>
        <p:nvSpPr>
          <p:cNvPr id="18" name="Shape 16"/>
          <p:cNvSpPr/>
          <p:nvPr/>
        </p:nvSpPr>
        <p:spPr>
          <a:xfrm>
            <a:off x="457200" y="4882896"/>
            <a:ext cx="5303520" cy="1444752"/>
          </a:xfrm>
          <a:prstGeom prst="rect">
            <a:avLst/>
          </a:prstGeom>
          <a:solidFill>
            <a:srgbClr val="1C1C19"/>
          </a:solidFill>
          <a:ln w="12700">
            <a:solidFill>
              <a:srgbClr val="2A2A26"/>
            </a:solidFill>
            <a:prstDash val="solid"/>
          </a:ln>
        </p:spPr>
      </p:sp>
      <p:sp>
        <p:nvSpPr>
          <p:cNvPr id="19" name="Shape 17"/>
          <p:cNvSpPr/>
          <p:nvPr/>
        </p:nvSpPr>
        <p:spPr>
          <a:xfrm>
            <a:off x="457200" y="4882896"/>
            <a:ext cx="64008" cy="1444752"/>
          </a:xfrm>
          <a:prstGeom prst="rect">
            <a:avLst/>
          </a:prstGeom>
          <a:solidFill>
            <a:srgbClr val="F5C842"/>
          </a:solidFill>
          <a:ln w="12700">
            <a:solidFill>
              <a:srgbClr val="F5C842"/>
            </a:solidFill>
            <a:prstDash val="solid"/>
          </a:ln>
        </p:spPr>
      </p:sp>
      <p:sp>
        <p:nvSpPr>
          <p:cNvPr id="20" name="Text 18"/>
          <p:cNvSpPr/>
          <p:nvPr/>
        </p:nvSpPr>
        <p:spPr>
          <a:xfrm>
            <a:off x="640080" y="4974336"/>
            <a:ext cx="4937760" cy="256032"/>
          </a:xfrm>
          <a:prstGeom prst="rect">
            <a:avLst/>
          </a:prstGeom>
          <a:noFill/>
          <a:ln/>
        </p:spPr>
        <p:txBody>
          <a:bodyPr wrap="square" lIns="0" tIns="0" rIns="0" bIns="0" rtlCol="0" anchor="ctr"/>
          <a:lstStyle/>
          <a:p>
            <a:pPr indent="0" marL="0">
              <a:buNone/>
            </a:pPr>
            <a:r>
              <a:rPr lang="en-US" sz="1100" b="1" dirty="0">
                <a:solidFill>
                  <a:srgbClr val="DDD8CC"/>
                </a:solidFill>
                <a:latin typeface="Georgia" pitchFamily="34" charset="0"/>
                <a:ea typeface="Georgia" pitchFamily="34" charset="-122"/>
                <a:cs typeface="Georgia" pitchFamily="34" charset="-120"/>
              </a:rPr>
              <a:t>Q: Could this cannibalize Kitco's audience?</a:t>
            </a:r>
            <a:endParaRPr lang="en-US" sz="1100" dirty="0"/>
          </a:p>
        </p:txBody>
      </p:sp>
      <p:sp>
        <p:nvSpPr>
          <p:cNvPr id="21" name="Text 19"/>
          <p:cNvSpPr/>
          <p:nvPr/>
        </p:nvSpPr>
        <p:spPr>
          <a:xfrm>
            <a:off x="640080" y="5266944"/>
            <a:ext cx="4937760" cy="749808"/>
          </a:xfrm>
          <a:prstGeom prst="rect">
            <a:avLst/>
          </a:prstGeom>
          <a:noFill/>
          <a:ln/>
        </p:spPr>
        <p:txBody>
          <a:bodyPr wrap="square" lIns="0" tIns="0" rIns="0" bIns="0" rtlCol="0" anchor="ctr"/>
          <a:lstStyle/>
          <a:p>
            <a:pPr indent="0" marL="0">
              <a:buNone/>
            </a:pPr>
            <a:r>
              <a:rPr lang="en-US" sz="1050" dirty="0">
                <a:solidFill>
                  <a:srgbClr val="DDD8CC"/>
                </a:solidFill>
                <a:latin typeface="Calibri" pitchFamily="34" charset="0"/>
                <a:ea typeface="Calibri" pitchFamily="34" charset="-122"/>
                <a:cs typeface="Calibri" pitchFamily="34" charset="-120"/>
              </a:rPr>
              <a:t>No — it extends it. A trader who profits predicting gold on HYPERFLEX using a Kitco analysis is a more engaged Kitco reader, not a less engaged one.</a:t>
            </a:r>
            <a:endParaRPr lang="en-US" sz="1050" dirty="0"/>
          </a:p>
        </p:txBody>
      </p:sp>
      <p:sp>
        <p:nvSpPr>
          <p:cNvPr id="22" name="Shape 20"/>
          <p:cNvSpPr/>
          <p:nvPr/>
        </p:nvSpPr>
        <p:spPr>
          <a:xfrm>
            <a:off x="640080" y="6071616"/>
            <a:ext cx="4937760" cy="201168"/>
          </a:xfrm>
          <a:prstGeom prst="rect">
            <a:avLst/>
          </a:prstGeom>
          <a:solidFill>
            <a:srgbClr val="2A2416"/>
          </a:solidFill>
          <a:ln w="12700">
            <a:solidFill>
              <a:srgbClr val="2A2416"/>
            </a:solidFill>
            <a:prstDash val="solid"/>
          </a:ln>
        </p:spPr>
      </p:sp>
      <p:sp>
        <p:nvSpPr>
          <p:cNvPr id="23" name="Text 21"/>
          <p:cNvSpPr/>
          <p:nvPr/>
        </p:nvSpPr>
        <p:spPr>
          <a:xfrm>
            <a:off x="749808" y="6080760"/>
            <a:ext cx="4754880" cy="182880"/>
          </a:xfrm>
          <a:prstGeom prst="rect">
            <a:avLst/>
          </a:prstGeom>
          <a:noFill/>
          <a:ln/>
        </p:spPr>
        <p:txBody>
          <a:bodyPr wrap="square" lIns="0" tIns="0" rIns="0" bIns="0" rtlCol="0" anchor="ctr"/>
          <a:lstStyle/>
          <a:p>
            <a:pPr indent="0" marL="0">
              <a:buNone/>
            </a:pPr>
            <a:r>
              <a:rPr lang="en-US" sz="850" i="1" dirty="0">
                <a:solidFill>
                  <a:srgbClr val="C9920D"/>
                </a:solidFill>
                <a:latin typeface="Consolas" pitchFamily="34" charset="0"/>
                <a:ea typeface="Consolas" pitchFamily="34" charset="-122"/>
                <a:cs typeface="Consolas" pitchFamily="34" charset="-120"/>
              </a:rPr>
              <a:t>▸  Additive, not competitive. Repeat that word if needed.</a:t>
            </a:r>
            <a:endParaRPr lang="en-US" sz="850" dirty="0"/>
          </a:p>
        </p:txBody>
      </p:sp>
      <p:sp>
        <p:nvSpPr>
          <p:cNvPr id="24" name="Text 22"/>
          <p:cNvSpPr/>
          <p:nvPr/>
        </p:nvSpPr>
        <p:spPr>
          <a:xfrm>
            <a:off x="6355080" y="1389888"/>
            <a:ext cx="5486400" cy="201168"/>
          </a:xfrm>
          <a:prstGeom prst="rect">
            <a:avLst/>
          </a:prstGeom>
          <a:noFill/>
          <a:ln/>
        </p:spPr>
        <p:txBody>
          <a:bodyPr wrap="square" lIns="0" tIns="0" rIns="0" bIns="0" rtlCol="0" anchor="ctr"/>
          <a:lstStyle/>
          <a:p>
            <a:pPr indent="0" marL="0">
              <a:buNone/>
            </a:pPr>
            <a:r>
              <a:rPr lang="en-US" sz="800" b="1" spc="300" kern="0" dirty="0">
                <a:solidFill>
                  <a:srgbClr val="C9920D"/>
                </a:solidFill>
                <a:latin typeface="Consolas" pitchFamily="34" charset="0"/>
                <a:ea typeface="Consolas" pitchFamily="34" charset="-122"/>
                <a:cs typeface="Consolas" pitchFamily="34" charset="-120"/>
              </a:rPr>
              <a:t>HARD STOPS — DEFLECT THESE</a:t>
            </a:r>
            <a:endParaRPr lang="en-US" sz="800" dirty="0"/>
          </a:p>
        </p:txBody>
      </p:sp>
      <p:sp>
        <p:nvSpPr>
          <p:cNvPr id="25" name="Shape 23"/>
          <p:cNvSpPr/>
          <p:nvPr/>
        </p:nvSpPr>
        <p:spPr>
          <a:xfrm>
            <a:off x="6355080" y="1664208"/>
            <a:ext cx="5349240" cy="1078992"/>
          </a:xfrm>
          <a:prstGeom prst="rect">
            <a:avLst/>
          </a:prstGeom>
          <a:solidFill>
            <a:srgbClr val="1C1C19"/>
          </a:solidFill>
          <a:ln w="12700">
            <a:solidFill>
              <a:srgbClr val="2A2A26"/>
            </a:solidFill>
            <a:prstDash val="solid"/>
          </a:ln>
        </p:spPr>
      </p:sp>
      <p:sp>
        <p:nvSpPr>
          <p:cNvPr id="26" name="Shape 24"/>
          <p:cNvSpPr/>
          <p:nvPr/>
        </p:nvSpPr>
        <p:spPr>
          <a:xfrm>
            <a:off x="6355080" y="1664208"/>
            <a:ext cx="64008" cy="1078992"/>
          </a:xfrm>
          <a:prstGeom prst="rect">
            <a:avLst/>
          </a:prstGeom>
          <a:solidFill>
            <a:srgbClr val="C0392B"/>
          </a:solidFill>
          <a:ln w="12700">
            <a:solidFill>
              <a:srgbClr val="C0392B"/>
            </a:solidFill>
            <a:prstDash val="solid"/>
          </a:ln>
        </p:spPr>
      </p:sp>
      <p:sp>
        <p:nvSpPr>
          <p:cNvPr id="27" name="Shape 25"/>
          <p:cNvSpPr/>
          <p:nvPr/>
        </p:nvSpPr>
        <p:spPr>
          <a:xfrm>
            <a:off x="6510528" y="1737360"/>
            <a:ext cx="1188720" cy="201168"/>
          </a:xfrm>
          <a:prstGeom prst="rect">
            <a:avLst/>
          </a:prstGeom>
          <a:solidFill>
            <a:srgbClr val="2A0F0F"/>
          </a:solidFill>
          <a:ln w="12700">
            <a:solidFill>
              <a:srgbClr val="C0392B"/>
            </a:solidFill>
            <a:prstDash val="solid"/>
          </a:ln>
        </p:spPr>
      </p:sp>
      <p:sp>
        <p:nvSpPr>
          <p:cNvPr id="28" name="Text 26"/>
          <p:cNvSpPr/>
          <p:nvPr/>
        </p:nvSpPr>
        <p:spPr>
          <a:xfrm>
            <a:off x="6510528" y="1737360"/>
            <a:ext cx="1188720" cy="201168"/>
          </a:xfrm>
          <a:prstGeom prst="rect">
            <a:avLst/>
          </a:prstGeom>
          <a:noFill/>
          <a:ln/>
        </p:spPr>
        <p:txBody>
          <a:bodyPr wrap="square" lIns="0" tIns="0" rIns="0" bIns="0" rtlCol="0" anchor="ctr"/>
          <a:lstStyle/>
          <a:p>
            <a:pPr algn="ctr" indent="0" marL="0">
              <a:buNone/>
            </a:pPr>
            <a:r>
              <a:rPr lang="en-US" sz="700" b="1" spc="100" kern="0" dirty="0">
                <a:solidFill>
                  <a:srgbClr val="C0392B"/>
                </a:solidFill>
                <a:latin typeface="Consolas" pitchFamily="34" charset="0"/>
                <a:ea typeface="Consolas" pitchFamily="34" charset="-122"/>
                <a:cs typeface="Consolas" pitchFamily="34" charset="-120"/>
              </a:rPr>
              <a:t>HARD STOP</a:t>
            </a:r>
            <a:endParaRPr lang="en-US" sz="700" dirty="0"/>
          </a:p>
        </p:txBody>
      </p:sp>
      <p:sp>
        <p:nvSpPr>
          <p:cNvPr id="29" name="Text 27"/>
          <p:cNvSpPr/>
          <p:nvPr/>
        </p:nvSpPr>
        <p:spPr>
          <a:xfrm>
            <a:off x="7818120" y="1737360"/>
            <a:ext cx="3749040" cy="256032"/>
          </a:xfrm>
          <a:prstGeom prst="rect">
            <a:avLst/>
          </a:prstGeom>
          <a:noFill/>
          <a:ln/>
        </p:spPr>
        <p:txBody>
          <a:bodyPr wrap="square" lIns="0" tIns="0" rIns="0" bIns="0" rtlCol="0" anchor="ctr"/>
          <a:lstStyle/>
          <a:p>
            <a:pPr indent="0" marL="0">
              <a:buNone/>
            </a:pPr>
            <a:r>
              <a:rPr lang="en-US" sz="1050" b="1" dirty="0">
                <a:solidFill>
                  <a:srgbClr val="DDD8CC"/>
                </a:solidFill>
                <a:latin typeface="Georgia" pitchFamily="34" charset="0"/>
                <a:ea typeface="Georgia" pitchFamily="34" charset="-122"/>
                <a:cs typeface="Georgia" pitchFamily="34" charset="-120"/>
              </a:rPr>
              <a:t>Q: Can we have equity in HYPERFLEX?</a:t>
            </a:r>
            <a:endParaRPr lang="en-US" sz="1050" dirty="0"/>
          </a:p>
        </p:txBody>
      </p:sp>
      <p:sp>
        <p:nvSpPr>
          <p:cNvPr id="30" name="Text 28"/>
          <p:cNvSpPr/>
          <p:nvPr/>
        </p:nvSpPr>
        <p:spPr>
          <a:xfrm>
            <a:off x="6510528" y="2029968"/>
            <a:ext cx="5074920" cy="640080"/>
          </a:xfrm>
          <a:prstGeom prst="rect">
            <a:avLst/>
          </a:prstGeom>
          <a:noFill/>
          <a:ln/>
        </p:spPr>
        <p:txBody>
          <a:bodyPr wrap="square" lIns="0" tIns="0" rIns="0" bIns="0" rtlCol="0" anchor="ctr"/>
          <a:lstStyle/>
          <a:p>
            <a:pPr indent="0" marL="0">
              <a:buNone/>
            </a:pPr>
            <a:r>
              <a:rPr lang="en-US" sz="1000" dirty="0">
                <a:solidFill>
                  <a:srgbClr val="DDD8CC"/>
                </a:solidFill>
                <a:latin typeface="Calibri" pitchFamily="34" charset="0"/>
                <a:ea typeface="Calibri" pitchFamily="34" charset="-122"/>
                <a:cs typeface="Calibri" pitchFamily="34" charset="-120"/>
              </a:rPr>
              <a:t>That's a conversation for a later stage once we've proven the model together. Right now I'm looking for a data partnership, not an investment relationship.</a:t>
            </a:r>
            <a:endParaRPr lang="en-US" sz="1000" dirty="0"/>
          </a:p>
        </p:txBody>
      </p:sp>
      <p:sp>
        <p:nvSpPr>
          <p:cNvPr id="31" name="Shape 29"/>
          <p:cNvSpPr/>
          <p:nvPr/>
        </p:nvSpPr>
        <p:spPr>
          <a:xfrm>
            <a:off x="6355080" y="2898648"/>
            <a:ext cx="5349240" cy="1078992"/>
          </a:xfrm>
          <a:prstGeom prst="rect">
            <a:avLst/>
          </a:prstGeom>
          <a:solidFill>
            <a:srgbClr val="1C1C19"/>
          </a:solidFill>
          <a:ln w="12700">
            <a:solidFill>
              <a:srgbClr val="2A2A26"/>
            </a:solidFill>
            <a:prstDash val="solid"/>
          </a:ln>
        </p:spPr>
      </p:sp>
      <p:sp>
        <p:nvSpPr>
          <p:cNvPr id="32" name="Shape 30"/>
          <p:cNvSpPr/>
          <p:nvPr/>
        </p:nvSpPr>
        <p:spPr>
          <a:xfrm>
            <a:off x="6355080" y="2898648"/>
            <a:ext cx="64008" cy="1078992"/>
          </a:xfrm>
          <a:prstGeom prst="rect">
            <a:avLst/>
          </a:prstGeom>
          <a:solidFill>
            <a:srgbClr val="C0392B"/>
          </a:solidFill>
          <a:ln w="12700">
            <a:solidFill>
              <a:srgbClr val="C0392B"/>
            </a:solidFill>
            <a:prstDash val="solid"/>
          </a:ln>
        </p:spPr>
      </p:sp>
      <p:sp>
        <p:nvSpPr>
          <p:cNvPr id="33" name="Shape 31"/>
          <p:cNvSpPr/>
          <p:nvPr/>
        </p:nvSpPr>
        <p:spPr>
          <a:xfrm>
            <a:off x="6510528" y="2971800"/>
            <a:ext cx="1188720" cy="201168"/>
          </a:xfrm>
          <a:prstGeom prst="rect">
            <a:avLst/>
          </a:prstGeom>
          <a:solidFill>
            <a:srgbClr val="2A0F0F"/>
          </a:solidFill>
          <a:ln w="12700">
            <a:solidFill>
              <a:srgbClr val="C0392B"/>
            </a:solidFill>
            <a:prstDash val="solid"/>
          </a:ln>
        </p:spPr>
      </p:sp>
      <p:sp>
        <p:nvSpPr>
          <p:cNvPr id="34" name="Text 32"/>
          <p:cNvSpPr/>
          <p:nvPr/>
        </p:nvSpPr>
        <p:spPr>
          <a:xfrm>
            <a:off x="6510528" y="2971800"/>
            <a:ext cx="1188720" cy="201168"/>
          </a:xfrm>
          <a:prstGeom prst="rect">
            <a:avLst/>
          </a:prstGeom>
          <a:noFill/>
          <a:ln/>
        </p:spPr>
        <p:txBody>
          <a:bodyPr wrap="square" lIns="0" tIns="0" rIns="0" bIns="0" rtlCol="0" anchor="ctr"/>
          <a:lstStyle/>
          <a:p>
            <a:pPr algn="ctr" indent="0" marL="0">
              <a:buNone/>
            </a:pPr>
            <a:r>
              <a:rPr lang="en-US" sz="700" b="1" spc="100" kern="0" dirty="0">
                <a:solidFill>
                  <a:srgbClr val="C0392B"/>
                </a:solidFill>
                <a:latin typeface="Consolas" pitchFamily="34" charset="0"/>
                <a:ea typeface="Consolas" pitchFamily="34" charset="-122"/>
                <a:cs typeface="Consolas" pitchFamily="34" charset="-120"/>
              </a:rPr>
              <a:t>HARD STOP</a:t>
            </a:r>
            <a:endParaRPr lang="en-US" sz="700" dirty="0"/>
          </a:p>
        </p:txBody>
      </p:sp>
      <p:sp>
        <p:nvSpPr>
          <p:cNvPr id="35" name="Text 33"/>
          <p:cNvSpPr/>
          <p:nvPr/>
        </p:nvSpPr>
        <p:spPr>
          <a:xfrm>
            <a:off x="7818120" y="2971800"/>
            <a:ext cx="3749040" cy="256032"/>
          </a:xfrm>
          <a:prstGeom prst="rect">
            <a:avLst/>
          </a:prstGeom>
          <a:noFill/>
          <a:ln/>
        </p:spPr>
        <p:txBody>
          <a:bodyPr wrap="square" lIns="0" tIns="0" rIns="0" bIns="0" rtlCol="0" anchor="ctr"/>
          <a:lstStyle/>
          <a:p>
            <a:pPr indent="0" marL="0">
              <a:buNone/>
            </a:pPr>
            <a:r>
              <a:rPr lang="en-US" sz="1050" b="1" dirty="0">
                <a:solidFill>
                  <a:srgbClr val="DDD8CC"/>
                </a:solidFill>
                <a:latin typeface="Georgia" pitchFamily="34" charset="0"/>
                <a:ea typeface="Georgia" pitchFamily="34" charset="-122"/>
                <a:cs typeface="Georgia" pitchFamily="34" charset="-120"/>
              </a:rPr>
              <a:t>Q: We want exclusivity.</a:t>
            </a:r>
            <a:endParaRPr lang="en-US" sz="1050" dirty="0"/>
          </a:p>
        </p:txBody>
      </p:sp>
      <p:sp>
        <p:nvSpPr>
          <p:cNvPr id="36" name="Text 34"/>
          <p:cNvSpPr/>
          <p:nvPr/>
        </p:nvSpPr>
        <p:spPr>
          <a:xfrm>
            <a:off x="6510528" y="3264408"/>
            <a:ext cx="5074920" cy="640080"/>
          </a:xfrm>
          <a:prstGeom prst="rect">
            <a:avLst/>
          </a:prstGeom>
          <a:noFill/>
          <a:ln/>
        </p:spPr>
        <p:txBody>
          <a:bodyPr wrap="square" lIns="0" tIns="0" rIns="0" bIns="0" rtlCol="0" anchor="ctr"/>
          <a:lstStyle/>
          <a:p>
            <a:pPr indent="0" marL="0">
              <a:buNone/>
            </a:pPr>
            <a:r>
              <a:rPr lang="en-US" sz="1000" dirty="0">
                <a:solidFill>
                  <a:srgbClr val="DDD8CC"/>
                </a:solidFill>
                <a:latin typeface="Calibri" pitchFamily="34" charset="0"/>
                <a:ea typeface="Calibri" pitchFamily="34" charset="-122"/>
                <a:cs typeface="Calibri" pitchFamily="34" charset="-120"/>
              </a:rPr>
              <a:t>I can offer preferred oracle status for all commodity markets and first right of discussion before any other commodity data partnership. Full exclusivity would prevent settling non-commodity markets.</a:t>
            </a:r>
            <a:endParaRPr lang="en-US" sz="1000" dirty="0"/>
          </a:p>
        </p:txBody>
      </p:sp>
      <p:sp>
        <p:nvSpPr>
          <p:cNvPr id="37" name="Shape 35"/>
          <p:cNvSpPr/>
          <p:nvPr/>
        </p:nvSpPr>
        <p:spPr>
          <a:xfrm>
            <a:off x="6355080" y="4133088"/>
            <a:ext cx="5349240" cy="1078992"/>
          </a:xfrm>
          <a:prstGeom prst="rect">
            <a:avLst/>
          </a:prstGeom>
          <a:solidFill>
            <a:srgbClr val="1C1C19"/>
          </a:solidFill>
          <a:ln w="12700">
            <a:solidFill>
              <a:srgbClr val="2A2A26"/>
            </a:solidFill>
            <a:prstDash val="solid"/>
          </a:ln>
        </p:spPr>
      </p:sp>
      <p:sp>
        <p:nvSpPr>
          <p:cNvPr id="38" name="Shape 36"/>
          <p:cNvSpPr/>
          <p:nvPr/>
        </p:nvSpPr>
        <p:spPr>
          <a:xfrm>
            <a:off x="6355080" y="4133088"/>
            <a:ext cx="64008" cy="1078992"/>
          </a:xfrm>
          <a:prstGeom prst="rect">
            <a:avLst/>
          </a:prstGeom>
          <a:solidFill>
            <a:srgbClr val="C0392B"/>
          </a:solidFill>
          <a:ln w="12700">
            <a:solidFill>
              <a:srgbClr val="C0392B"/>
            </a:solidFill>
            <a:prstDash val="solid"/>
          </a:ln>
        </p:spPr>
      </p:sp>
      <p:sp>
        <p:nvSpPr>
          <p:cNvPr id="39" name="Shape 37"/>
          <p:cNvSpPr/>
          <p:nvPr/>
        </p:nvSpPr>
        <p:spPr>
          <a:xfrm>
            <a:off x="6510528" y="4206240"/>
            <a:ext cx="1188720" cy="201168"/>
          </a:xfrm>
          <a:prstGeom prst="rect">
            <a:avLst/>
          </a:prstGeom>
          <a:solidFill>
            <a:srgbClr val="2A0F0F"/>
          </a:solidFill>
          <a:ln w="12700">
            <a:solidFill>
              <a:srgbClr val="C0392B"/>
            </a:solidFill>
            <a:prstDash val="solid"/>
          </a:ln>
        </p:spPr>
      </p:sp>
      <p:sp>
        <p:nvSpPr>
          <p:cNvPr id="40" name="Text 38"/>
          <p:cNvSpPr/>
          <p:nvPr/>
        </p:nvSpPr>
        <p:spPr>
          <a:xfrm>
            <a:off x="6510528" y="4206240"/>
            <a:ext cx="1188720" cy="201168"/>
          </a:xfrm>
          <a:prstGeom prst="rect">
            <a:avLst/>
          </a:prstGeom>
          <a:noFill/>
          <a:ln/>
        </p:spPr>
        <p:txBody>
          <a:bodyPr wrap="square" lIns="0" tIns="0" rIns="0" bIns="0" rtlCol="0" anchor="ctr"/>
          <a:lstStyle/>
          <a:p>
            <a:pPr algn="ctr" indent="0" marL="0">
              <a:buNone/>
            </a:pPr>
            <a:r>
              <a:rPr lang="en-US" sz="700" b="1" spc="100" kern="0" dirty="0">
                <a:solidFill>
                  <a:srgbClr val="C0392B"/>
                </a:solidFill>
                <a:latin typeface="Consolas" pitchFamily="34" charset="0"/>
                <a:ea typeface="Consolas" pitchFamily="34" charset="-122"/>
                <a:cs typeface="Consolas" pitchFamily="34" charset="-120"/>
              </a:rPr>
              <a:t>HARD STOP</a:t>
            </a:r>
            <a:endParaRPr lang="en-US" sz="700" dirty="0"/>
          </a:p>
        </p:txBody>
      </p:sp>
      <p:sp>
        <p:nvSpPr>
          <p:cNvPr id="41" name="Text 39"/>
          <p:cNvSpPr/>
          <p:nvPr/>
        </p:nvSpPr>
        <p:spPr>
          <a:xfrm>
            <a:off x="7818120" y="4206240"/>
            <a:ext cx="3749040" cy="256032"/>
          </a:xfrm>
          <a:prstGeom prst="rect">
            <a:avLst/>
          </a:prstGeom>
          <a:noFill/>
          <a:ln/>
        </p:spPr>
        <p:txBody>
          <a:bodyPr wrap="square" lIns="0" tIns="0" rIns="0" bIns="0" rtlCol="0" anchor="ctr"/>
          <a:lstStyle/>
          <a:p>
            <a:pPr indent="0" marL="0">
              <a:buNone/>
            </a:pPr>
            <a:r>
              <a:rPr lang="en-US" sz="1050" b="1" dirty="0">
                <a:solidFill>
                  <a:srgbClr val="DDD8CC"/>
                </a:solidFill>
                <a:latin typeface="Georgia" pitchFamily="34" charset="0"/>
                <a:ea typeface="Georgia" pitchFamily="34" charset="-122"/>
                <a:cs typeface="Georgia" pitchFamily="34" charset="-120"/>
              </a:rPr>
              <a:t>Q: We want revenue sharing from day one.</a:t>
            </a:r>
            <a:endParaRPr lang="en-US" sz="1050" dirty="0"/>
          </a:p>
        </p:txBody>
      </p:sp>
      <p:sp>
        <p:nvSpPr>
          <p:cNvPr id="42" name="Text 40"/>
          <p:cNvSpPr/>
          <p:nvPr/>
        </p:nvSpPr>
        <p:spPr>
          <a:xfrm>
            <a:off x="6510528" y="4498848"/>
            <a:ext cx="5074920" cy="640080"/>
          </a:xfrm>
          <a:prstGeom prst="rect">
            <a:avLst/>
          </a:prstGeom>
          <a:noFill/>
          <a:ln/>
        </p:spPr>
        <p:txBody>
          <a:bodyPr wrap="square" lIns="0" tIns="0" rIns="0" bIns="0" rtlCol="0" anchor="ctr"/>
          <a:lstStyle/>
          <a:p>
            <a:pPr indent="0" marL="0">
              <a:buNone/>
            </a:pPr>
            <a:r>
              <a:rPr lang="en-US" sz="1000" dirty="0">
                <a:solidFill>
                  <a:srgbClr val="DDD8CC"/>
                </a:solidFill>
                <a:latin typeface="Calibri" pitchFamily="34" charset="0"/>
                <a:ea typeface="Calibri" pitchFamily="34" charset="-122"/>
                <a:cs typeface="Calibri" pitchFamily="34" charset="-120"/>
              </a:rPr>
              <a:t>Open to that conversation once we have volume to share. Formalising it before proof of concept slows us both down. Let's agree in principle and formalise at grant funding stage.</a:t>
            </a:r>
            <a:endParaRPr lang="en-US" sz="1000" dirty="0"/>
          </a:p>
        </p:txBody>
      </p:sp>
      <p:sp>
        <p:nvSpPr>
          <p:cNvPr id="43" name="Shape 41"/>
          <p:cNvSpPr/>
          <p:nvPr/>
        </p:nvSpPr>
        <p:spPr>
          <a:xfrm>
            <a:off x="6355080" y="5367528"/>
            <a:ext cx="5349240" cy="1078992"/>
          </a:xfrm>
          <a:prstGeom prst="rect">
            <a:avLst/>
          </a:prstGeom>
          <a:solidFill>
            <a:srgbClr val="1C1C19"/>
          </a:solidFill>
          <a:ln w="12700">
            <a:solidFill>
              <a:srgbClr val="2A2A26"/>
            </a:solidFill>
            <a:prstDash val="solid"/>
          </a:ln>
        </p:spPr>
      </p:sp>
      <p:sp>
        <p:nvSpPr>
          <p:cNvPr id="44" name="Shape 42"/>
          <p:cNvSpPr/>
          <p:nvPr/>
        </p:nvSpPr>
        <p:spPr>
          <a:xfrm>
            <a:off x="6355080" y="5367528"/>
            <a:ext cx="64008" cy="1078992"/>
          </a:xfrm>
          <a:prstGeom prst="rect">
            <a:avLst/>
          </a:prstGeom>
          <a:solidFill>
            <a:srgbClr val="C0392B"/>
          </a:solidFill>
          <a:ln w="12700">
            <a:solidFill>
              <a:srgbClr val="C0392B"/>
            </a:solidFill>
            <a:prstDash val="solid"/>
          </a:ln>
        </p:spPr>
      </p:sp>
      <p:sp>
        <p:nvSpPr>
          <p:cNvPr id="45" name="Shape 43"/>
          <p:cNvSpPr/>
          <p:nvPr/>
        </p:nvSpPr>
        <p:spPr>
          <a:xfrm>
            <a:off x="6510528" y="5440680"/>
            <a:ext cx="1188720" cy="201168"/>
          </a:xfrm>
          <a:prstGeom prst="rect">
            <a:avLst/>
          </a:prstGeom>
          <a:solidFill>
            <a:srgbClr val="2A0F0F"/>
          </a:solidFill>
          <a:ln w="12700">
            <a:solidFill>
              <a:srgbClr val="C0392B"/>
            </a:solidFill>
            <a:prstDash val="solid"/>
          </a:ln>
        </p:spPr>
      </p:sp>
      <p:sp>
        <p:nvSpPr>
          <p:cNvPr id="46" name="Text 44"/>
          <p:cNvSpPr/>
          <p:nvPr/>
        </p:nvSpPr>
        <p:spPr>
          <a:xfrm>
            <a:off x="6510528" y="5440680"/>
            <a:ext cx="1188720" cy="201168"/>
          </a:xfrm>
          <a:prstGeom prst="rect">
            <a:avLst/>
          </a:prstGeom>
          <a:noFill/>
          <a:ln/>
        </p:spPr>
        <p:txBody>
          <a:bodyPr wrap="square" lIns="0" tIns="0" rIns="0" bIns="0" rtlCol="0" anchor="ctr"/>
          <a:lstStyle/>
          <a:p>
            <a:pPr algn="ctr" indent="0" marL="0">
              <a:buNone/>
            </a:pPr>
            <a:r>
              <a:rPr lang="en-US" sz="700" b="1" spc="100" kern="0" dirty="0">
                <a:solidFill>
                  <a:srgbClr val="C0392B"/>
                </a:solidFill>
                <a:latin typeface="Consolas" pitchFamily="34" charset="0"/>
                <a:ea typeface="Consolas" pitchFamily="34" charset="-122"/>
                <a:cs typeface="Consolas" pitchFamily="34" charset="-120"/>
              </a:rPr>
              <a:t>HARD STOP</a:t>
            </a:r>
            <a:endParaRPr lang="en-US" sz="700" dirty="0"/>
          </a:p>
        </p:txBody>
      </p:sp>
      <p:sp>
        <p:nvSpPr>
          <p:cNvPr id="47" name="Text 45"/>
          <p:cNvSpPr/>
          <p:nvPr/>
        </p:nvSpPr>
        <p:spPr>
          <a:xfrm>
            <a:off x="7818120" y="5440680"/>
            <a:ext cx="3749040" cy="256032"/>
          </a:xfrm>
          <a:prstGeom prst="rect">
            <a:avLst/>
          </a:prstGeom>
          <a:noFill/>
          <a:ln/>
        </p:spPr>
        <p:txBody>
          <a:bodyPr wrap="square" lIns="0" tIns="0" rIns="0" bIns="0" rtlCol="0" anchor="ctr"/>
          <a:lstStyle/>
          <a:p>
            <a:pPr indent="0" marL="0">
              <a:buNone/>
            </a:pPr>
            <a:r>
              <a:rPr lang="en-US" sz="1050" b="1" dirty="0">
                <a:solidFill>
                  <a:srgbClr val="DDD8CC"/>
                </a:solidFill>
                <a:latin typeface="Georgia" pitchFamily="34" charset="0"/>
                <a:ea typeface="Georgia" pitchFamily="34" charset="-122"/>
                <a:cs typeface="Georgia" pitchFamily="34" charset="-120"/>
              </a:rPr>
              <a:t>Q: We want 'Powered by Kitco' on every market.</a:t>
            </a:r>
            <a:endParaRPr lang="en-US" sz="1050" dirty="0"/>
          </a:p>
        </p:txBody>
      </p:sp>
      <p:sp>
        <p:nvSpPr>
          <p:cNvPr id="48" name="Text 46"/>
          <p:cNvSpPr/>
          <p:nvPr/>
        </p:nvSpPr>
        <p:spPr>
          <a:xfrm>
            <a:off x="6510528" y="5733288"/>
            <a:ext cx="5074920" cy="640080"/>
          </a:xfrm>
          <a:prstGeom prst="rect">
            <a:avLst/>
          </a:prstGeom>
          <a:noFill/>
          <a:ln/>
        </p:spPr>
        <p:txBody>
          <a:bodyPr wrap="square" lIns="0" tIns="0" rIns="0" bIns="0" rtlCol="0" anchor="ctr"/>
          <a:lstStyle/>
          <a:p>
            <a:pPr indent="0" marL="0">
              <a:buNone/>
            </a:pPr>
            <a:r>
              <a:rPr lang="en-US" sz="1000" dirty="0">
                <a:solidFill>
                  <a:srgbClr val="DDD8CC"/>
                </a:solidFill>
                <a:latin typeface="Calibri" pitchFamily="34" charset="0"/>
                <a:ea typeface="Calibri" pitchFamily="34" charset="-122"/>
                <a:cs typeface="Calibri" pitchFamily="34" charset="-120"/>
              </a:rPr>
              <a:t>That's exactly what we want too. Every commodity market carries Kitco attribution as the settlement source. This is alignment, not a concession.</a:t>
            </a:r>
            <a:endParaRPr lang="en-US" sz="1000" dirty="0"/>
          </a:p>
        </p:txBody>
      </p:sp>
      <p:sp>
        <p:nvSpPr>
          <p:cNvPr id="49" name="Text 47"/>
          <p:cNvSpPr/>
          <p:nvPr/>
        </p:nvSpPr>
        <p:spPr>
          <a:xfrm>
            <a:off x="365760" y="6492240"/>
            <a:ext cx="2743200" cy="228600"/>
          </a:xfrm>
          <a:prstGeom prst="rect">
            <a:avLst/>
          </a:prstGeom>
          <a:noFill/>
          <a:ln/>
        </p:spPr>
        <p:txBody>
          <a:bodyPr wrap="square" lIns="0" tIns="0" rIns="0" bIns="0" rtlCol="0" anchor="ctr"/>
          <a:lstStyle/>
          <a:p>
            <a:pPr indent="0" marL="0">
              <a:buNone/>
            </a:pPr>
            <a:r>
              <a:rPr lang="en-US" sz="900" b="1" spc="200" kern="0" dirty="0">
                <a:solidFill>
                  <a:srgbClr val="C9920D"/>
                </a:solidFill>
                <a:latin typeface="Consolas" pitchFamily="34" charset="0"/>
                <a:ea typeface="Consolas" pitchFamily="34" charset="-122"/>
                <a:cs typeface="Consolas" pitchFamily="34" charset="-120"/>
              </a:rPr>
              <a:t>◆ HYPERFLEX</a:t>
            </a:r>
            <a:endParaRPr lang="en-US" sz="900" dirty="0"/>
          </a:p>
        </p:txBody>
      </p:sp>
      <p:sp>
        <p:nvSpPr>
          <p:cNvPr id="50" name="Text 48"/>
          <p:cNvSpPr/>
          <p:nvPr/>
        </p:nvSpPr>
        <p:spPr>
          <a:xfrm>
            <a:off x="9052560" y="6492240"/>
            <a:ext cx="2743200" cy="228600"/>
          </a:xfrm>
          <a:prstGeom prst="rect">
            <a:avLst/>
          </a:prstGeom>
          <a:noFill/>
          <a:ln/>
        </p:spPr>
        <p:txBody>
          <a:bodyPr wrap="square" lIns="0" tIns="0" rIns="0" bIns="0" rtlCol="0" anchor="ctr"/>
          <a:lstStyle/>
          <a:p>
            <a:pPr algn="r" indent="0" marL="0">
              <a:buNone/>
            </a:pPr>
            <a:r>
              <a:rPr lang="en-US" sz="800" spc="100" kern="0" dirty="0">
                <a:solidFill>
                  <a:srgbClr val="7A7870"/>
                </a:solidFill>
                <a:latin typeface="Consolas" pitchFamily="34" charset="0"/>
                <a:ea typeface="Consolas" pitchFamily="34" charset="-122"/>
                <a:cs typeface="Consolas" pitchFamily="34" charset="-120"/>
              </a:rPr>
              <a:t>SECTION 04+05 — BUSINESS &amp; HARD STOPS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2"/>
        </a:solidFill>
      </p:bgPr>
    </p:bg>
    <p:spTree>
      <p:nvGrpSpPr>
        <p:cNvPr id="1" name=""/>
        <p:cNvGrpSpPr/>
        <p:nvPr/>
      </p:nvGrpSpPr>
      <p:grpSpPr>
        <a:xfrm>
          <a:off x="0" y="0"/>
          <a:ext cx="0" cy="0"/>
          <a:chOff x="0" y="0"/>
          <a:chExt cx="0" cy="0"/>
        </a:xfrm>
      </p:grpSpPr>
      <p:sp>
        <p:nvSpPr>
          <p:cNvPr id="2" name="Shape 0"/>
          <p:cNvSpPr/>
          <p:nvPr/>
        </p:nvSpPr>
        <p:spPr>
          <a:xfrm>
            <a:off x="457200" y="274320"/>
            <a:ext cx="2011680" cy="274320"/>
          </a:xfrm>
          <a:prstGeom prst="rect">
            <a:avLst/>
          </a:prstGeom>
          <a:solidFill>
            <a:srgbClr val="C9920D"/>
          </a:solidFill>
          <a:ln w="12700">
            <a:solidFill>
              <a:srgbClr val="C9920D"/>
            </a:solidFill>
            <a:prstDash val="solid"/>
          </a:ln>
        </p:spPr>
      </p:sp>
      <p:sp>
        <p:nvSpPr>
          <p:cNvPr id="3" name="Text 1"/>
          <p:cNvSpPr/>
          <p:nvPr/>
        </p:nvSpPr>
        <p:spPr>
          <a:xfrm>
            <a:off x="457200" y="274320"/>
            <a:ext cx="2011680" cy="274320"/>
          </a:xfrm>
          <a:prstGeom prst="rect">
            <a:avLst/>
          </a:prstGeom>
          <a:noFill/>
          <a:ln/>
        </p:spPr>
        <p:txBody>
          <a:bodyPr wrap="square" lIns="0" tIns="0" rIns="0" bIns="0" rtlCol="0" anchor="ctr"/>
          <a:lstStyle/>
          <a:p>
            <a:pPr algn="ctr" indent="0" marL="0">
              <a:buNone/>
            </a:pPr>
            <a:r>
              <a:rPr lang="en-US" sz="900" b="1" spc="200" kern="0" dirty="0">
                <a:solidFill>
                  <a:srgbClr val="0E0E0C"/>
                </a:solidFill>
                <a:latin typeface="Consolas" pitchFamily="34" charset="0"/>
                <a:ea typeface="Consolas" pitchFamily="34" charset="-122"/>
                <a:cs typeface="Consolas" pitchFamily="34" charset="-120"/>
              </a:rPr>
              <a:t>SECTION 06</a:t>
            </a:r>
            <a:endParaRPr lang="en-US" sz="900" dirty="0"/>
          </a:p>
        </p:txBody>
      </p:sp>
      <p:sp>
        <p:nvSpPr>
          <p:cNvPr id="4" name="Text 2"/>
          <p:cNvSpPr/>
          <p:nvPr/>
        </p:nvSpPr>
        <p:spPr>
          <a:xfrm>
            <a:off x="457200" y="658368"/>
            <a:ext cx="10972800" cy="594360"/>
          </a:xfrm>
          <a:prstGeom prst="rect">
            <a:avLst/>
          </a:prstGeom>
          <a:noFill/>
          <a:ln/>
        </p:spPr>
        <p:txBody>
          <a:bodyPr wrap="square" lIns="0" tIns="0" rIns="0" bIns="0" rtlCol="0" anchor="ctr"/>
          <a:lstStyle/>
          <a:p>
            <a:pPr indent="0" marL="0">
              <a:buNone/>
            </a:pPr>
            <a:r>
              <a:rPr lang="en-US" sz="3800" b="1" dirty="0">
                <a:solidFill>
                  <a:srgbClr val="DDD8CC"/>
                </a:solidFill>
                <a:latin typeface="Georgia" pitchFamily="34" charset="0"/>
                <a:ea typeface="Georgia" pitchFamily="34" charset="-122"/>
                <a:cs typeface="Georgia" pitchFamily="34" charset="-120"/>
              </a:rPr>
              <a:t>Never Say / The Close</a:t>
            </a:r>
            <a:endParaRPr lang="en-US" sz="3800" dirty="0"/>
          </a:p>
        </p:txBody>
      </p:sp>
      <p:sp>
        <p:nvSpPr>
          <p:cNvPr id="5" name="Text 3"/>
          <p:cNvSpPr/>
          <p:nvPr/>
        </p:nvSpPr>
        <p:spPr>
          <a:xfrm>
            <a:off x="457200" y="1371600"/>
            <a:ext cx="3657600" cy="201168"/>
          </a:xfrm>
          <a:prstGeom prst="rect">
            <a:avLst/>
          </a:prstGeom>
          <a:noFill/>
          <a:ln/>
        </p:spPr>
        <p:txBody>
          <a:bodyPr wrap="square" lIns="0" tIns="0" rIns="0" bIns="0" rtlCol="0" anchor="ctr"/>
          <a:lstStyle/>
          <a:p>
            <a:pPr indent="0" marL="0">
              <a:buNone/>
            </a:pPr>
            <a:r>
              <a:rPr lang="en-US" sz="800" b="1" spc="300" kern="0" dirty="0">
                <a:solidFill>
                  <a:srgbClr val="C9920D"/>
                </a:solidFill>
                <a:latin typeface="Consolas" pitchFamily="34" charset="0"/>
                <a:ea typeface="Consolas" pitchFamily="34" charset="-122"/>
                <a:cs typeface="Consolas" pitchFamily="34" charset="-120"/>
              </a:rPr>
              <a:t>NEVER SAY THIS</a:t>
            </a:r>
            <a:endParaRPr lang="en-US" sz="800" dirty="0"/>
          </a:p>
        </p:txBody>
      </p:sp>
      <p:sp>
        <p:nvSpPr>
          <p:cNvPr id="6" name="Text 4"/>
          <p:cNvSpPr/>
          <p:nvPr/>
        </p:nvSpPr>
        <p:spPr>
          <a:xfrm>
            <a:off x="5212080" y="1371600"/>
            <a:ext cx="3657600" cy="201168"/>
          </a:xfrm>
          <a:prstGeom prst="rect">
            <a:avLst/>
          </a:prstGeom>
          <a:noFill/>
          <a:ln/>
        </p:spPr>
        <p:txBody>
          <a:bodyPr wrap="square" lIns="0" tIns="0" rIns="0" bIns="0" rtlCol="0" anchor="ctr"/>
          <a:lstStyle/>
          <a:p>
            <a:pPr indent="0" marL="0">
              <a:buNone/>
            </a:pPr>
            <a:r>
              <a:rPr lang="en-US" sz="800" b="1" spc="300" kern="0" dirty="0">
                <a:solidFill>
                  <a:srgbClr val="C9920D"/>
                </a:solidFill>
                <a:latin typeface="Consolas" pitchFamily="34" charset="0"/>
                <a:ea typeface="Consolas" pitchFamily="34" charset="-122"/>
                <a:cs typeface="Consolas" pitchFamily="34" charset="-120"/>
              </a:rPr>
              <a:t>SAY THIS INSTEAD</a:t>
            </a:r>
            <a:endParaRPr lang="en-US" sz="800" dirty="0"/>
          </a:p>
        </p:txBody>
      </p:sp>
      <p:sp>
        <p:nvSpPr>
          <p:cNvPr id="7" name="Shape 5"/>
          <p:cNvSpPr/>
          <p:nvPr/>
        </p:nvSpPr>
        <p:spPr>
          <a:xfrm>
            <a:off x="457200" y="1627632"/>
            <a:ext cx="4572000" cy="420624"/>
          </a:xfrm>
          <a:prstGeom prst="rect">
            <a:avLst/>
          </a:prstGeom>
          <a:solidFill>
            <a:srgbClr val="1C1C19"/>
          </a:solidFill>
          <a:ln w="12700">
            <a:solidFill>
              <a:srgbClr val="2A2A26"/>
            </a:solidFill>
            <a:prstDash val="solid"/>
          </a:ln>
        </p:spPr>
      </p:sp>
      <p:sp>
        <p:nvSpPr>
          <p:cNvPr id="8" name="Text 6"/>
          <p:cNvSpPr/>
          <p:nvPr/>
        </p:nvSpPr>
        <p:spPr>
          <a:xfrm>
            <a:off x="594360" y="1682496"/>
            <a:ext cx="4343400" cy="320040"/>
          </a:xfrm>
          <a:prstGeom prst="rect">
            <a:avLst/>
          </a:prstGeom>
          <a:noFill/>
          <a:ln/>
        </p:spPr>
        <p:txBody>
          <a:bodyPr wrap="square" lIns="0" tIns="0" rIns="0" bIns="0" rtlCol="0" anchor="ctr"/>
          <a:lstStyle/>
          <a:p>
            <a:pPr indent="0" marL="0">
              <a:buNone/>
            </a:pPr>
            <a:r>
              <a:rPr lang="en-US" sz="1050" dirty="0">
                <a:solidFill>
                  <a:srgbClr val="C0392B"/>
                </a:solidFill>
                <a:latin typeface="Calibri" pitchFamily="34" charset="0"/>
                <a:ea typeface="Calibri" pitchFamily="34" charset="-122"/>
                <a:cs typeface="Calibri" pitchFamily="34" charset="-120"/>
              </a:rPr>
              <a:t>✗  We use AI to generate the markets</a:t>
            </a:r>
            <a:endParaRPr lang="en-US" sz="1050" dirty="0"/>
          </a:p>
        </p:txBody>
      </p:sp>
      <p:sp>
        <p:nvSpPr>
          <p:cNvPr id="9" name="Shape 7"/>
          <p:cNvSpPr/>
          <p:nvPr/>
        </p:nvSpPr>
        <p:spPr>
          <a:xfrm>
            <a:off x="5166360" y="1627632"/>
            <a:ext cx="6537960" cy="420624"/>
          </a:xfrm>
          <a:prstGeom prst="rect">
            <a:avLst/>
          </a:prstGeom>
          <a:solidFill>
            <a:srgbClr val="1C1C19"/>
          </a:solidFill>
          <a:ln w="12700">
            <a:solidFill>
              <a:srgbClr val="2A2A26"/>
            </a:solidFill>
            <a:prstDash val="solid"/>
          </a:ln>
        </p:spPr>
      </p:sp>
      <p:sp>
        <p:nvSpPr>
          <p:cNvPr id="10" name="Text 8"/>
          <p:cNvSpPr/>
          <p:nvPr/>
        </p:nvSpPr>
        <p:spPr>
          <a:xfrm>
            <a:off x="5303520" y="1682496"/>
            <a:ext cx="6309360" cy="320040"/>
          </a:xfrm>
          <a:prstGeom prst="rect">
            <a:avLst/>
          </a:prstGeom>
          <a:noFill/>
          <a:ln/>
        </p:spPr>
        <p:txBody>
          <a:bodyPr wrap="square" lIns="0" tIns="0" rIns="0" bIns="0" rtlCol="0" anchor="ctr"/>
          <a:lstStyle/>
          <a:p>
            <a:pPr indent="0" marL="0">
              <a:buNone/>
            </a:pPr>
            <a:r>
              <a:rPr lang="en-US" sz="1050" dirty="0">
                <a:solidFill>
                  <a:srgbClr val="2D9B5F"/>
                </a:solidFill>
                <a:latin typeface="Calibri" pitchFamily="34" charset="0"/>
                <a:ea typeface="Calibri" pitchFamily="34" charset="-122"/>
                <a:cs typeface="Calibri" pitchFamily="34" charset="-120"/>
              </a:rPr>
              <a:t>✓  We open fresh markets every morning based on commodity news</a:t>
            </a:r>
            <a:endParaRPr lang="en-US" sz="1050" dirty="0"/>
          </a:p>
        </p:txBody>
      </p:sp>
      <p:sp>
        <p:nvSpPr>
          <p:cNvPr id="11" name="Shape 9"/>
          <p:cNvSpPr/>
          <p:nvPr/>
        </p:nvSpPr>
        <p:spPr>
          <a:xfrm>
            <a:off x="457200" y="2066544"/>
            <a:ext cx="4572000" cy="420624"/>
          </a:xfrm>
          <a:prstGeom prst="rect">
            <a:avLst/>
          </a:prstGeom>
          <a:solidFill>
            <a:srgbClr val="141412"/>
          </a:solidFill>
          <a:ln w="12700">
            <a:solidFill>
              <a:srgbClr val="2A2A26"/>
            </a:solidFill>
            <a:prstDash val="solid"/>
          </a:ln>
        </p:spPr>
      </p:sp>
      <p:sp>
        <p:nvSpPr>
          <p:cNvPr id="12" name="Text 10"/>
          <p:cNvSpPr/>
          <p:nvPr/>
        </p:nvSpPr>
        <p:spPr>
          <a:xfrm>
            <a:off x="594360" y="2121408"/>
            <a:ext cx="4343400" cy="320040"/>
          </a:xfrm>
          <a:prstGeom prst="rect">
            <a:avLst/>
          </a:prstGeom>
          <a:noFill/>
          <a:ln/>
        </p:spPr>
        <p:txBody>
          <a:bodyPr wrap="square" lIns="0" tIns="0" rIns="0" bIns="0" rtlCol="0" anchor="ctr"/>
          <a:lstStyle/>
          <a:p>
            <a:pPr indent="0" marL="0">
              <a:buNone/>
            </a:pPr>
            <a:r>
              <a:rPr lang="en-US" sz="1050" dirty="0">
                <a:solidFill>
                  <a:srgbClr val="C0392B"/>
                </a:solidFill>
                <a:latin typeface="Calibri" pitchFamily="34" charset="0"/>
                <a:ea typeface="Calibri" pitchFamily="34" charset="-122"/>
                <a:cs typeface="Calibri" pitchFamily="34" charset="-120"/>
              </a:rPr>
              <a:t>✗  We're a blockchain company</a:t>
            </a:r>
            <a:endParaRPr lang="en-US" sz="1050" dirty="0"/>
          </a:p>
        </p:txBody>
      </p:sp>
      <p:sp>
        <p:nvSpPr>
          <p:cNvPr id="13" name="Shape 11"/>
          <p:cNvSpPr/>
          <p:nvPr/>
        </p:nvSpPr>
        <p:spPr>
          <a:xfrm>
            <a:off x="5166360" y="2066544"/>
            <a:ext cx="6537960" cy="420624"/>
          </a:xfrm>
          <a:prstGeom prst="rect">
            <a:avLst/>
          </a:prstGeom>
          <a:solidFill>
            <a:srgbClr val="141412"/>
          </a:solidFill>
          <a:ln w="12700">
            <a:solidFill>
              <a:srgbClr val="2A2A26"/>
            </a:solidFill>
            <a:prstDash val="solid"/>
          </a:ln>
        </p:spPr>
      </p:sp>
      <p:sp>
        <p:nvSpPr>
          <p:cNvPr id="14" name="Text 12"/>
          <p:cNvSpPr/>
          <p:nvPr/>
        </p:nvSpPr>
        <p:spPr>
          <a:xfrm>
            <a:off x="5303520" y="2121408"/>
            <a:ext cx="6309360" cy="320040"/>
          </a:xfrm>
          <a:prstGeom prst="rect">
            <a:avLst/>
          </a:prstGeom>
          <a:noFill/>
          <a:ln/>
        </p:spPr>
        <p:txBody>
          <a:bodyPr wrap="square" lIns="0" tIns="0" rIns="0" bIns="0" rtlCol="0" anchor="ctr"/>
          <a:lstStyle/>
          <a:p>
            <a:pPr indent="0" marL="0">
              <a:buNone/>
            </a:pPr>
            <a:r>
              <a:rPr lang="en-US" sz="1050" dirty="0">
                <a:solidFill>
                  <a:srgbClr val="2D9B5F"/>
                </a:solidFill>
                <a:latin typeface="Calibri" pitchFamily="34" charset="0"/>
                <a:ea typeface="Calibri" pitchFamily="34" charset="-122"/>
                <a:cs typeface="Calibri" pitchFamily="34" charset="-120"/>
              </a:rPr>
              <a:t>✓  We're a prediction market platform built on fast settlement infrastructure</a:t>
            </a:r>
            <a:endParaRPr lang="en-US" sz="1050" dirty="0"/>
          </a:p>
        </p:txBody>
      </p:sp>
      <p:sp>
        <p:nvSpPr>
          <p:cNvPr id="15" name="Shape 13"/>
          <p:cNvSpPr/>
          <p:nvPr/>
        </p:nvSpPr>
        <p:spPr>
          <a:xfrm>
            <a:off x="457200" y="2505456"/>
            <a:ext cx="4572000" cy="420624"/>
          </a:xfrm>
          <a:prstGeom prst="rect">
            <a:avLst/>
          </a:prstGeom>
          <a:solidFill>
            <a:srgbClr val="1C1C19"/>
          </a:solidFill>
          <a:ln w="12700">
            <a:solidFill>
              <a:srgbClr val="2A2A26"/>
            </a:solidFill>
            <a:prstDash val="solid"/>
          </a:ln>
        </p:spPr>
      </p:sp>
      <p:sp>
        <p:nvSpPr>
          <p:cNvPr id="16" name="Text 14"/>
          <p:cNvSpPr/>
          <p:nvPr/>
        </p:nvSpPr>
        <p:spPr>
          <a:xfrm>
            <a:off x="594360" y="2560320"/>
            <a:ext cx="4343400" cy="320040"/>
          </a:xfrm>
          <a:prstGeom prst="rect">
            <a:avLst/>
          </a:prstGeom>
          <a:noFill/>
          <a:ln/>
        </p:spPr>
        <p:txBody>
          <a:bodyPr wrap="square" lIns="0" tIns="0" rIns="0" bIns="0" rtlCol="0" anchor="ctr"/>
          <a:lstStyle/>
          <a:p>
            <a:pPr indent="0" marL="0">
              <a:buNone/>
            </a:pPr>
            <a:r>
              <a:rPr lang="en-US" sz="1050" dirty="0">
                <a:solidFill>
                  <a:srgbClr val="C0392B"/>
                </a:solidFill>
                <a:latin typeface="Calibri" pitchFamily="34" charset="0"/>
                <a:ea typeface="Calibri" pitchFamily="34" charset="-122"/>
                <a:cs typeface="Calibri" pitchFamily="34" charset="-120"/>
              </a:rPr>
              <a:t>✗  We're unfunded / bootstrapped</a:t>
            </a:r>
            <a:endParaRPr lang="en-US" sz="1050" dirty="0"/>
          </a:p>
        </p:txBody>
      </p:sp>
      <p:sp>
        <p:nvSpPr>
          <p:cNvPr id="17" name="Shape 15"/>
          <p:cNvSpPr/>
          <p:nvPr/>
        </p:nvSpPr>
        <p:spPr>
          <a:xfrm>
            <a:off x="5166360" y="2505456"/>
            <a:ext cx="6537960" cy="420624"/>
          </a:xfrm>
          <a:prstGeom prst="rect">
            <a:avLst/>
          </a:prstGeom>
          <a:solidFill>
            <a:srgbClr val="1C1C19"/>
          </a:solidFill>
          <a:ln w="12700">
            <a:solidFill>
              <a:srgbClr val="2A2A26"/>
            </a:solidFill>
            <a:prstDash val="solid"/>
          </a:ln>
        </p:spPr>
      </p:sp>
      <p:sp>
        <p:nvSpPr>
          <p:cNvPr id="18" name="Text 16"/>
          <p:cNvSpPr/>
          <p:nvPr/>
        </p:nvSpPr>
        <p:spPr>
          <a:xfrm>
            <a:off x="5303520" y="2560320"/>
            <a:ext cx="6309360" cy="320040"/>
          </a:xfrm>
          <a:prstGeom prst="rect">
            <a:avLst/>
          </a:prstGeom>
          <a:noFill/>
          <a:ln/>
        </p:spPr>
        <p:txBody>
          <a:bodyPr wrap="square" lIns="0" tIns="0" rIns="0" bIns="0" rtlCol="0" anchor="ctr"/>
          <a:lstStyle/>
          <a:p>
            <a:pPr indent="0" marL="0">
              <a:buNone/>
            </a:pPr>
            <a:r>
              <a:rPr lang="en-US" sz="1050" dirty="0">
                <a:solidFill>
                  <a:srgbClr val="2D9B5F"/>
                </a:solidFill>
                <a:latin typeface="Calibri" pitchFamily="34" charset="0"/>
                <a:ea typeface="Calibri" pitchFamily="34" charset="-122"/>
                <a:cs typeface="Calibri" pitchFamily="34" charset="-120"/>
              </a:rPr>
              <a:t>✓  We're in conversations with institutional supporters and grant programs</a:t>
            </a:r>
            <a:endParaRPr lang="en-US" sz="1050" dirty="0"/>
          </a:p>
        </p:txBody>
      </p:sp>
      <p:sp>
        <p:nvSpPr>
          <p:cNvPr id="19" name="Shape 17"/>
          <p:cNvSpPr/>
          <p:nvPr/>
        </p:nvSpPr>
        <p:spPr>
          <a:xfrm>
            <a:off x="457200" y="2944368"/>
            <a:ext cx="4572000" cy="420624"/>
          </a:xfrm>
          <a:prstGeom prst="rect">
            <a:avLst/>
          </a:prstGeom>
          <a:solidFill>
            <a:srgbClr val="141412"/>
          </a:solidFill>
          <a:ln w="12700">
            <a:solidFill>
              <a:srgbClr val="2A2A26"/>
            </a:solidFill>
            <a:prstDash val="solid"/>
          </a:ln>
        </p:spPr>
      </p:sp>
      <p:sp>
        <p:nvSpPr>
          <p:cNvPr id="20" name="Text 18"/>
          <p:cNvSpPr/>
          <p:nvPr/>
        </p:nvSpPr>
        <p:spPr>
          <a:xfrm>
            <a:off x="594360" y="2999232"/>
            <a:ext cx="4343400" cy="320040"/>
          </a:xfrm>
          <a:prstGeom prst="rect">
            <a:avLst/>
          </a:prstGeom>
          <a:noFill/>
          <a:ln/>
        </p:spPr>
        <p:txBody>
          <a:bodyPr wrap="square" lIns="0" tIns="0" rIns="0" bIns="0" rtlCol="0" anchor="ctr"/>
          <a:lstStyle/>
          <a:p>
            <a:pPr indent="0" marL="0">
              <a:buNone/>
            </a:pPr>
            <a:r>
              <a:rPr lang="en-US" sz="1050" dirty="0">
                <a:solidFill>
                  <a:srgbClr val="C0392B"/>
                </a:solidFill>
                <a:latin typeface="Calibri" pitchFamily="34" charset="0"/>
                <a:ea typeface="Calibri" pitchFamily="34" charset="-122"/>
                <a:cs typeface="Calibri" pitchFamily="34" charset="-120"/>
              </a:rPr>
              <a:t>✗  Mining.com [any competitor]</a:t>
            </a:r>
            <a:endParaRPr lang="en-US" sz="1050" dirty="0"/>
          </a:p>
        </p:txBody>
      </p:sp>
      <p:sp>
        <p:nvSpPr>
          <p:cNvPr id="21" name="Shape 19"/>
          <p:cNvSpPr/>
          <p:nvPr/>
        </p:nvSpPr>
        <p:spPr>
          <a:xfrm>
            <a:off x="5166360" y="2944368"/>
            <a:ext cx="6537960" cy="420624"/>
          </a:xfrm>
          <a:prstGeom prst="rect">
            <a:avLst/>
          </a:prstGeom>
          <a:solidFill>
            <a:srgbClr val="141412"/>
          </a:solidFill>
          <a:ln w="12700">
            <a:solidFill>
              <a:srgbClr val="2A2A26"/>
            </a:solidFill>
            <a:prstDash val="solid"/>
          </a:ln>
        </p:spPr>
      </p:sp>
      <p:sp>
        <p:nvSpPr>
          <p:cNvPr id="22" name="Text 20"/>
          <p:cNvSpPr/>
          <p:nvPr/>
        </p:nvSpPr>
        <p:spPr>
          <a:xfrm>
            <a:off x="5303520" y="2999232"/>
            <a:ext cx="6309360" cy="320040"/>
          </a:xfrm>
          <a:prstGeom prst="rect">
            <a:avLst/>
          </a:prstGeom>
          <a:noFill/>
          <a:ln/>
        </p:spPr>
        <p:txBody>
          <a:bodyPr wrap="square" lIns="0" tIns="0" rIns="0" bIns="0" rtlCol="0" anchor="ctr"/>
          <a:lstStyle/>
          <a:p>
            <a:pPr indent="0" marL="0">
              <a:buNone/>
            </a:pPr>
            <a:r>
              <a:rPr lang="en-US" sz="1050" dirty="0">
                <a:solidFill>
                  <a:srgbClr val="2D9B5F"/>
                </a:solidFill>
                <a:latin typeface="Calibri" pitchFamily="34" charset="0"/>
                <a:ea typeface="Calibri" pitchFamily="34" charset="-122"/>
                <a:cs typeface="Calibri" pitchFamily="34" charset="-120"/>
              </a:rPr>
              <a:t>✓  Do not mention competitors — at all</a:t>
            </a:r>
            <a:endParaRPr lang="en-US" sz="1050" dirty="0"/>
          </a:p>
        </p:txBody>
      </p:sp>
      <p:sp>
        <p:nvSpPr>
          <p:cNvPr id="23" name="Shape 21"/>
          <p:cNvSpPr/>
          <p:nvPr/>
        </p:nvSpPr>
        <p:spPr>
          <a:xfrm>
            <a:off x="457200" y="3383280"/>
            <a:ext cx="4572000" cy="420624"/>
          </a:xfrm>
          <a:prstGeom prst="rect">
            <a:avLst/>
          </a:prstGeom>
          <a:solidFill>
            <a:srgbClr val="1C1C19"/>
          </a:solidFill>
          <a:ln w="12700">
            <a:solidFill>
              <a:srgbClr val="2A2A26"/>
            </a:solidFill>
            <a:prstDash val="solid"/>
          </a:ln>
        </p:spPr>
      </p:sp>
      <p:sp>
        <p:nvSpPr>
          <p:cNvPr id="24" name="Text 22"/>
          <p:cNvSpPr/>
          <p:nvPr/>
        </p:nvSpPr>
        <p:spPr>
          <a:xfrm>
            <a:off x="594360" y="3438144"/>
            <a:ext cx="4343400" cy="320040"/>
          </a:xfrm>
          <a:prstGeom prst="rect">
            <a:avLst/>
          </a:prstGeom>
          <a:noFill/>
          <a:ln/>
        </p:spPr>
        <p:txBody>
          <a:bodyPr wrap="square" lIns="0" tIns="0" rIns="0" bIns="0" rtlCol="0" anchor="ctr"/>
          <a:lstStyle/>
          <a:p>
            <a:pPr indent="0" marL="0">
              <a:buNone/>
            </a:pPr>
            <a:r>
              <a:rPr lang="en-US" sz="1050" dirty="0">
                <a:solidFill>
                  <a:srgbClr val="C0392B"/>
                </a:solidFill>
                <a:latin typeface="Calibri" pitchFamily="34" charset="0"/>
                <a:ea typeface="Calibri" pitchFamily="34" charset="-122"/>
                <a:cs typeface="Calibri" pitchFamily="34" charset="-120"/>
              </a:rPr>
              <a:t>✗  We haven't launched yet</a:t>
            </a:r>
            <a:endParaRPr lang="en-US" sz="1050" dirty="0"/>
          </a:p>
        </p:txBody>
      </p:sp>
      <p:sp>
        <p:nvSpPr>
          <p:cNvPr id="25" name="Shape 23"/>
          <p:cNvSpPr/>
          <p:nvPr/>
        </p:nvSpPr>
        <p:spPr>
          <a:xfrm>
            <a:off x="5166360" y="3383280"/>
            <a:ext cx="6537960" cy="420624"/>
          </a:xfrm>
          <a:prstGeom prst="rect">
            <a:avLst/>
          </a:prstGeom>
          <a:solidFill>
            <a:srgbClr val="1C1C19"/>
          </a:solidFill>
          <a:ln w="12700">
            <a:solidFill>
              <a:srgbClr val="2A2A26"/>
            </a:solidFill>
            <a:prstDash val="solid"/>
          </a:ln>
        </p:spPr>
      </p:sp>
      <p:sp>
        <p:nvSpPr>
          <p:cNvPr id="26" name="Text 24"/>
          <p:cNvSpPr/>
          <p:nvPr/>
        </p:nvSpPr>
        <p:spPr>
          <a:xfrm>
            <a:off x="5303520" y="3438144"/>
            <a:ext cx="6309360" cy="320040"/>
          </a:xfrm>
          <a:prstGeom prst="rect">
            <a:avLst/>
          </a:prstGeom>
          <a:noFill/>
          <a:ln/>
        </p:spPr>
        <p:txBody>
          <a:bodyPr wrap="square" lIns="0" tIns="0" rIns="0" bIns="0" rtlCol="0" anchor="ctr"/>
          <a:lstStyle/>
          <a:p>
            <a:pPr indent="0" marL="0">
              <a:buNone/>
            </a:pPr>
            <a:r>
              <a:rPr lang="en-US" sz="1050" dirty="0">
                <a:solidFill>
                  <a:srgbClr val="2D9B5F"/>
                </a:solidFill>
                <a:latin typeface="Calibri" pitchFamily="34" charset="0"/>
                <a:ea typeface="Calibri" pitchFamily="34" charset="-122"/>
                <a:cs typeface="Calibri" pitchFamily="34" charset="-120"/>
              </a:rPr>
              <a:t>✓  We're in prototype stage — building the partnership now, before launch</a:t>
            </a:r>
            <a:endParaRPr lang="en-US" sz="1050" dirty="0"/>
          </a:p>
        </p:txBody>
      </p:sp>
      <p:sp>
        <p:nvSpPr>
          <p:cNvPr id="27" name="Shape 25"/>
          <p:cNvSpPr/>
          <p:nvPr/>
        </p:nvSpPr>
        <p:spPr>
          <a:xfrm>
            <a:off x="457200" y="3822192"/>
            <a:ext cx="4572000" cy="420624"/>
          </a:xfrm>
          <a:prstGeom prst="rect">
            <a:avLst/>
          </a:prstGeom>
          <a:solidFill>
            <a:srgbClr val="141412"/>
          </a:solidFill>
          <a:ln w="12700">
            <a:solidFill>
              <a:srgbClr val="2A2A26"/>
            </a:solidFill>
            <a:prstDash val="solid"/>
          </a:ln>
        </p:spPr>
      </p:sp>
      <p:sp>
        <p:nvSpPr>
          <p:cNvPr id="28" name="Text 26"/>
          <p:cNvSpPr/>
          <p:nvPr/>
        </p:nvSpPr>
        <p:spPr>
          <a:xfrm>
            <a:off x="594360" y="3877056"/>
            <a:ext cx="4343400" cy="320040"/>
          </a:xfrm>
          <a:prstGeom prst="rect">
            <a:avLst/>
          </a:prstGeom>
          <a:noFill/>
          <a:ln/>
        </p:spPr>
        <p:txBody>
          <a:bodyPr wrap="square" lIns="0" tIns="0" rIns="0" bIns="0" rtlCol="0" anchor="ctr"/>
          <a:lstStyle/>
          <a:p>
            <a:pPr indent="0" marL="0">
              <a:buNone/>
            </a:pPr>
            <a:r>
              <a:rPr lang="en-US" sz="1050" dirty="0">
                <a:solidFill>
                  <a:srgbClr val="C0392B"/>
                </a:solidFill>
                <a:latin typeface="Calibri" pitchFamily="34" charset="0"/>
                <a:ea typeface="Calibri" pitchFamily="34" charset="-122"/>
                <a:cs typeface="Calibri" pitchFamily="34" charset="-120"/>
              </a:rPr>
              <a:t>✗  We need your proprietary data</a:t>
            </a:r>
            <a:endParaRPr lang="en-US" sz="1050" dirty="0"/>
          </a:p>
        </p:txBody>
      </p:sp>
      <p:sp>
        <p:nvSpPr>
          <p:cNvPr id="29" name="Shape 27"/>
          <p:cNvSpPr/>
          <p:nvPr/>
        </p:nvSpPr>
        <p:spPr>
          <a:xfrm>
            <a:off x="5166360" y="3822192"/>
            <a:ext cx="6537960" cy="420624"/>
          </a:xfrm>
          <a:prstGeom prst="rect">
            <a:avLst/>
          </a:prstGeom>
          <a:solidFill>
            <a:srgbClr val="141412"/>
          </a:solidFill>
          <a:ln w="12700">
            <a:solidFill>
              <a:srgbClr val="2A2A26"/>
            </a:solidFill>
            <a:prstDash val="solid"/>
          </a:ln>
        </p:spPr>
      </p:sp>
      <p:sp>
        <p:nvSpPr>
          <p:cNvPr id="30" name="Text 28"/>
          <p:cNvSpPr/>
          <p:nvPr/>
        </p:nvSpPr>
        <p:spPr>
          <a:xfrm>
            <a:off x="5303520" y="3877056"/>
            <a:ext cx="6309360" cy="320040"/>
          </a:xfrm>
          <a:prstGeom prst="rect">
            <a:avLst/>
          </a:prstGeom>
          <a:noFill/>
          <a:ln/>
        </p:spPr>
        <p:txBody>
          <a:bodyPr wrap="square" lIns="0" tIns="0" rIns="0" bIns="0" rtlCol="0" anchor="ctr"/>
          <a:lstStyle/>
          <a:p>
            <a:pPr indent="0" marL="0">
              <a:buNone/>
            </a:pPr>
            <a:r>
              <a:rPr lang="en-US" sz="1050" dirty="0">
                <a:solidFill>
                  <a:srgbClr val="2D9B5F"/>
                </a:solidFill>
                <a:latin typeface="Calibri" pitchFamily="34" charset="0"/>
                <a:ea typeface="Calibri" pitchFamily="34" charset="-122"/>
                <a:cs typeface="Calibri" pitchFamily="34" charset="-120"/>
              </a:rPr>
              <a:t>✓  We only need the public spot prices you already publish for free</a:t>
            </a:r>
            <a:endParaRPr lang="en-US" sz="1050" dirty="0"/>
          </a:p>
        </p:txBody>
      </p:sp>
      <p:sp>
        <p:nvSpPr>
          <p:cNvPr id="31" name="Shape 29"/>
          <p:cNvSpPr/>
          <p:nvPr/>
        </p:nvSpPr>
        <p:spPr>
          <a:xfrm>
            <a:off x="457200" y="4407408"/>
            <a:ext cx="11247120" cy="1572768"/>
          </a:xfrm>
          <a:prstGeom prst="rect">
            <a:avLst/>
          </a:prstGeom>
          <a:solidFill>
            <a:srgbClr val="2A2416"/>
          </a:solidFill>
          <a:ln w="25400">
            <a:solidFill>
              <a:srgbClr val="C9920D"/>
            </a:solidFill>
            <a:prstDash val="solid"/>
          </a:ln>
        </p:spPr>
      </p:sp>
      <p:sp>
        <p:nvSpPr>
          <p:cNvPr id="32" name="Shape 30"/>
          <p:cNvSpPr/>
          <p:nvPr/>
        </p:nvSpPr>
        <p:spPr>
          <a:xfrm>
            <a:off x="457200" y="4407408"/>
            <a:ext cx="11247120" cy="45720"/>
          </a:xfrm>
          <a:prstGeom prst="rect">
            <a:avLst/>
          </a:prstGeom>
          <a:solidFill>
            <a:srgbClr val="C9920D"/>
          </a:solidFill>
          <a:ln w="12700">
            <a:solidFill>
              <a:srgbClr val="C9920D"/>
            </a:solidFill>
            <a:prstDash val="solid"/>
          </a:ln>
        </p:spPr>
      </p:sp>
      <p:sp>
        <p:nvSpPr>
          <p:cNvPr id="33" name="Text 31"/>
          <p:cNvSpPr/>
          <p:nvPr/>
        </p:nvSpPr>
        <p:spPr>
          <a:xfrm>
            <a:off x="658368" y="4480560"/>
            <a:ext cx="9144000" cy="237744"/>
          </a:xfrm>
          <a:prstGeom prst="rect">
            <a:avLst/>
          </a:prstGeom>
          <a:noFill/>
          <a:ln/>
        </p:spPr>
        <p:txBody>
          <a:bodyPr wrap="square" lIns="0" tIns="0" rIns="0" bIns="0" rtlCol="0" anchor="ctr"/>
          <a:lstStyle/>
          <a:p>
            <a:pPr indent="0" marL="0">
              <a:buNone/>
            </a:pPr>
            <a:r>
              <a:rPr lang="en-US" sz="900" b="1" spc="300" kern="0" dirty="0">
                <a:solidFill>
                  <a:srgbClr val="C9920D"/>
                </a:solidFill>
                <a:latin typeface="Consolas" pitchFamily="34" charset="0"/>
                <a:ea typeface="Consolas" pitchFamily="34" charset="-122"/>
                <a:cs typeface="Consolas" pitchFamily="34" charset="-120"/>
              </a:rPr>
              <a:t>THE CLOSING LINE — USE THIS VERBATIM</a:t>
            </a:r>
            <a:endParaRPr lang="en-US" sz="900" dirty="0"/>
          </a:p>
        </p:txBody>
      </p:sp>
      <p:sp>
        <p:nvSpPr>
          <p:cNvPr id="34" name="Text 32"/>
          <p:cNvSpPr/>
          <p:nvPr/>
        </p:nvSpPr>
        <p:spPr>
          <a:xfrm>
            <a:off x="658368" y="4791456"/>
            <a:ext cx="10789920" cy="1005840"/>
          </a:xfrm>
          <a:prstGeom prst="rect">
            <a:avLst/>
          </a:prstGeom>
          <a:noFill/>
          <a:ln/>
        </p:spPr>
        <p:txBody>
          <a:bodyPr wrap="square" rtlCol="0" anchor="ctr"/>
          <a:lstStyle/>
          <a:p>
            <a:pPr indent="0" marL="0">
              <a:buNone/>
            </a:pPr>
            <a:r>
              <a:rPr lang="en-US" sz="1600" i="1" dirty="0">
                <a:solidFill>
                  <a:srgbClr val="DDD8CC"/>
                </a:solidFill>
                <a:latin typeface="Georgia" pitchFamily="34" charset="0"/>
                <a:ea typeface="Georgia" pitchFamily="34" charset="-122"/>
                <a:cs typeface="Georgia" pitchFamily="34" charset="-120"/>
              </a:rPr>
              <a:t>"All we need to start is confirmation you're comfortable with us using the public price feed and linking back to Kitco articles.</a:t>
            </a:r>
            <a:pPr indent="0" marL="0">
              <a:buNone/>
            </a:pPr>
            <a:r>
              <a:rPr lang="en-US" sz="1600" b="1" i="1" dirty="0">
                <a:solidFill>
                  <a:srgbClr val="DDD8CC"/>
                </a:solidFill>
                <a:latin typeface="Georgia" pitchFamily="34" charset="0"/>
                <a:ea typeface="Georgia" pitchFamily="34" charset="-122"/>
                <a:cs typeface="Georgia" pitchFamily="34" charset="-120"/>
              </a:rPr>
              <a:t> Everything else can develop from there."</a:t>
            </a:r>
            <a:endParaRPr lang="en-US" sz="1600" dirty="0"/>
          </a:p>
        </p:txBody>
      </p:sp>
      <p:sp>
        <p:nvSpPr>
          <p:cNvPr id="35" name="Text 33"/>
          <p:cNvSpPr/>
          <p:nvPr/>
        </p:nvSpPr>
        <p:spPr>
          <a:xfrm>
            <a:off x="365760" y="6492240"/>
            <a:ext cx="2743200" cy="228600"/>
          </a:xfrm>
          <a:prstGeom prst="rect">
            <a:avLst/>
          </a:prstGeom>
          <a:noFill/>
          <a:ln/>
        </p:spPr>
        <p:txBody>
          <a:bodyPr wrap="square" lIns="0" tIns="0" rIns="0" bIns="0" rtlCol="0" anchor="ctr"/>
          <a:lstStyle/>
          <a:p>
            <a:pPr indent="0" marL="0">
              <a:buNone/>
            </a:pPr>
            <a:r>
              <a:rPr lang="en-US" sz="900" b="1" spc="200" kern="0" dirty="0">
                <a:solidFill>
                  <a:srgbClr val="C9920D"/>
                </a:solidFill>
                <a:latin typeface="Consolas" pitchFamily="34" charset="0"/>
                <a:ea typeface="Consolas" pitchFamily="34" charset="-122"/>
                <a:cs typeface="Consolas" pitchFamily="34" charset="-120"/>
              </a:rPr>
              <a:t>◆ HYPERFLEX</a:t>
            </a:r>
            <a:endParaRPr lang="en-US" sz="900" dirty="0"/>
          </a:p>
        </p:txBody>
      </p:sp>
      <p:sp>
        <p:nvSpPr>
          <p:cNvPr id="36" name="Text 34"/>
          <p:cNvSpPr/>
          <p:nvPr/>
        </p:nvSpPr>
        <p:spPr>
          <a:xfrm>
            <a:off x="9052560" y="6492240"/>
            <a:ext cx="2743200" cy="228600"/>
          </a:xfrm>
          <a:prstGeom prst="rect">
            <a:avLst/>
          </a:prstGeom>
          <a:noFill/>
          <a:ln/>
        </p:spPr>
        <p:txBody>
          <a:bodyPr wrap="square" lIns="0" tIns="0" rIns="0" bIns="0" rtlCol="0" anchor="ctr"/>
          <a:lstStyle/>
          <a:p>
            <a:pPr algn="r" indent="0" marL="0">
              <a:buNone/>
            </a:pPr>
            <a:r>
              <a:rPr lang="en-US" sz="800" spc="100" kern="0" dirty="0">
                <a:solidFill>
                  <a:srgbClr val="7A7870"/>
                </a:solidFill>
                <a:latin typeface="Consolas" pitchFamily="34" charset="0"/>
                <a:ea typeface="Consolas" pitchFamily="34" charset="-122"/>
                <a:cs typeface="Consolas" pitchFamily="34" charset="-120"/>
              </a:rPr>
              <a:t>SECTION 06 — NEVER SAY / THE CLOSE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E0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C9920D"/>
          </a:solidFill>
          <a:ln w="12700">
            <a:solidFill>
              <a:srgbClr val="C9920D"/>
            </a:solidFill>
            <a:prstDash val="solid"/>
          </a:ln>
        </p:spPr>
      </p:sp>
      <p:sp>
        <p:nvSpPr>
          <p:cNvPr id="3" name="Text 1"/>
          <p:cNvSpPr/>
          <p:nvPr/>
        </p:nvSpPr>
        <p:spPr>
          <a:xfrm>
            <a:off x="457200" y="365760"/>
            <a:ext cx="5486400" cy="320040"/>
          </a:xfrm>
          <a:prstGeom prst="rect">
            <a:avLst/>
          </a:prstGeom>
          <a:noFill/>
          <a:ln/>
        </p:spPr>
        <p:txBody>
          <a:bodyPr wrap="square" lIns="0" tIns="0" rIns="0" bIns="0" rtlCol="0" anchor="ctr"/>
          <a:lstStyle/>
          <a:p>
            <a:pPr indent="0" marL="0">
              <a:buNone/>
            </a:pPr>
            <a:r>
              <a:rPr lang="en-US" sz="1000" b="1" spc="400" kern="0" dirty="0">
                <a:solidFill>
                  <a:srgbClr val="C9920D"/>
                </a:solidFill>
                <a:latin typeface="Consolas" pitchFamily="34" charset="0"/>
                <a:ea typeface="Consolas" pitchFamily="34" charset="-122"/>
                <a:cs typeface="Consolas" pitchFamily="34" charset="-120"/>
              </a:rPr>
              <a:t>DEMO GUIDE</a:t>
            </a:r>
            <a:endParaRPr lang="en-US" sz="1000" dirty="0"/>
          </a:p>
        </p:txBody>
      </p:sp>
      <p:sp>
        <p:nvSpPr>
          <p:cNvPr id="4" name="Text 2"/>
          <p:cNvSpPr/>
          <p:nvPr/>
        </p:nvSpPr>
        <p:spPr>
          <a:xfrm>
            <a:off x="457200" y="749808"/>
            <a:ext cx="9144000" cy="594360"/>
          </a:xfrm>
          <a:prstGeom prst="rect">
            <a:avLst/>
          </a:prstGeom>
          <a:noFill/>
          <a:ln/>
        </p:spPr>
        <p:txBody>
          <a:bodyPr wrap="square" lIns="0" tIns="0" rIns="0" bIns="0" rtlCol="0" anchor="ctr"/>
          <a:lstStyle/>
          <a:p>
            <a:pPr indent="0" marL="0">
              <a:buNone/>
            </a:pPr>
            <a:r>
              <a:rPr lang="en-US" sz="3800" b="1" dirty="0">
                <a:solidFill>
                  <a:srgbClr val="DDD8CC"/>
                </a:solidFill>
                <a:latin typeface="Georgia" pitchFamily="34" charset="0"/>
                <a:ea typeface="Georgia" pitchFamily="34" charset="-122"/>
                <a:cs typeface="Georgia" pitchFamily="34" charset="-120"/>
              </a:rPr>
              <a:t>What to show John on the call.</a:t>
            </a:r>
            <a:endParaRPr lang="en-US" sz="3800" dirty="0"/>
          </a:p>
        </p:txBody>
      </p:sp>
      <p:sp>
        <p:nvSpPr>
          <p:cNvPr id="5" name="Text 3"/>
          <p:cNvSpPr/>
          <p:nvPr/>
        </p:nvSpPr>
        <p:spPr>
          <a:xfrm>
            <a:off x="457200" y="1371600"/>
            <a:ext cx="10972800" cy="274320"/>
          </a:xfrm>
          <a:prstGeom prst="rect">
            <a:avLst/>
          </a:prstGeom>
          <a:noFill/>
          <a:ln/>
        </p:spPr>
        <p:txBody>
          <a:bodyPr wrap="square" lIns="0" tIns="0" rIns="0" bIns="0" rtlCol="0" anchor="ctr"/>
          <a:lstStyle/>
          <a:p>
            <a:pPr indent="0" marL="0">
              <a:buNone/>
            </a:pPr>
            <a:r>
              <a:rPr lang="en-US" sz="1200" spc="100" kern="0" dirty="0">
                <a:solidFill>
                  <a:srgbClr val="C0392B"/>
                </a:solidFill>
                <a:latin typeface="Consolas" pitchFamily="34" charset="0"/>
                <a:ea typeface="Consolas" pitchFamily="34" charset="-122"/>
                <a:cs typeface="Consolas" pitchFamily="34" charset="-120"/>
              </a:rPr>
              <a:t>Open hyperflex-v5-themed_.html only. Do NOT open the scanner.</a:t>
            </a:r>
            <a:endParaRPr lang="en-US" sz="1200" dirty="0"/>
          </a:p>
        </p:txBody>
      </p:sp>
      <p:sp>
        <p:nvSpPr>
          <p:cNvPr id="6" name="Shape 4"/>
          <p:cNvSpPr/>
          <p:nvPr/>
        </p:nvSpPr>
        <p:spPr>
          <a:xfrm>
            <a:off x="457200" y="1828800"/>
            <a:ext cx="5669280" cy="1371600"/>
          </a:xfrm>
          <a:prstGeom prst="rect">
            <a:avLst/>
          </a:prstGeom>
          <a:solidFill>
            <a:srgbClr val="1C1C19"/>
          </a:solidFill>
          <a:ln w="12700">
            <a:solidFill>
              <a:srgbClr val="2A2A26"/>
            </a:solidFill>
            <a:prstDash val="solid"/>
          </a:ln>
        </p:spPr>
      </p:sp>
      <p:sp>
        <p:nvSpPr>
          <p:cNvPr id="7" name="Shape 5"/>
          <p:cNvSpPr/>
          <p:nvPr/>
        </p:nvSpPr>
        <p:spPr>
          <a:xfrm>
            <a:off x="457200" y="1828800"/>
            <a:ext cx="640080" cy="1371600"/>
          </a:xfrm>
          <a:prstGeom prst="rect">
            <a:avLst/>
          </a:prstGeom>
          <a:solidFill>
            <a:srgbClr val="C9920D"/>
          </a:solidFill>
          <a:ln w="12700">
            <a:solidFill>
              <a:srgbClr val="C9920D"/>
            </a:solidFill>
            <a:prstDash val="solid"/>
          </a:ln>
        </p:spPr>
      </p:sp>
      <p:sp>
        <p:nvSpPr>
          <p:cNvPr id="8" name="Text 6"/>
          <p:cNvSpPr/>
          <p:nvPr/>
        </p:nvSpPr>
        <p:spPr>
          <a:xfrm>
            <a:off x="457200" y="2304288"/>
            <a:ext cx="640080" cy="420624"/>
          </a:xfrm>
          <a:prstGeom prst="rect">
            <a:avLst/>
          </a:prstGeom>
          <a:noFill/>
          <a:ln/>
        </p:spPr>
        <p:txBody>
          <a:bodyPr wrap="square" lIns="0" tIns="0" rIns="0" bIns="0" rtlCol="0" anchor="ctr"/>
          <a:lstStyle/>
          <a:p>
            <a:pPr algn="ctr" indent="0" marL="0">
              <a:buNone/>
            </a:pPr>
            <a:r>
              <a:rPr lang="en-US" sz="1800" b="1" dirty="0">
                <a:solidFill>
                  <a:srgbClr val="0E0E0C"/>
                </a:solidFill>
                <a:latin typeface="Georgia" pitchFamily="34" charset="0"/>
                <a:ea typeface="Georgia" pitchFamily="34" charset="-122"/>
                <a:cs typeface="Georgia" pitchFamily="34" charset="-120"/>
              </a:rPr>
              <a:t>01</a:t>
            </a:r>
            <a:endParaRPr lang="en-US" sz="1800" dirty="0"/>
          </a:p>
        </p:txBody>
      </p:sp>
      <p:sp>
        <p:nvSpPr>
          <p:cNvPr id="9" name="Text 7"/>
          <p:cNvSpPr/>
          <p:nvPr/>
        </p:nvSpPr>
        <p:spPr>
          <a:xfrm>
            <a:off x="1207008" y="1920240"/>
            <a:ext cx="4800600" cy="274320"/>
          </a:xfrm>
          <a:prstGeom prst="rect">
            <a:avLst/>
          </a:prstGeom>
          <a:noFill/>
          <a:ln/>
        </p:spPr>
        <p:txBody>
          <a:bodyPr wrap="square" lIns="0" tIns="0" rIns="0" bIns="0" rtlCol="0" anchor="ctr"/>
          <a:lstStyle/>
          <a:p>
            <a:pPr indent="0" marL="0">
              <a:buNone/>
            </a:pPr>
            <a:r>
              <a:rPr lang="en-US" sz="1300" b="1" dirty="0">
                <a:solidFill>
                  <a:srgbClr val="DDD8CC"/>
                </a:solidFill>
                <a:latin typeface="Georgia" pitchFamily="34" charset="0"/>
                <a:ea typeface="Georgia" pitchFamily="34" charset="-122"/>
                <a:cs typeface="Georgia" pitchFamily="34" charset="-120"/>
              </a:rPr>
              <a:t>Open with the ticker</a:t>
            </a:r>
            <a:endParaRPr lang="en-US" sz="1300" dirty="0"/>
          </a:p>
        </p:txBody>
      </p:sp>
      <p:sp>
        <p:nvSpPr>
          <p:cNvPr id="10" name="Text 8"/>
          <p:cNvSpPr/>
          <p:nvPr/>
        </p:nvSpPr>
        <p:spPr>
          <a:xfrm>
            <a:off x="1207008" y="2231136"/>
            <a:ext cx="4800600" cy="877824"/>
          </a:xfrm>
          <a:prstGeom prst="rect">
            <a:avLst/>
          </a:prstGeom>
          <a:noFill/>
          <a:ln/>
        </p:spPr>
        <p:txBody>
          <a:bodyPr wrap="square" lIns="0" tIns="0" rIns="0" bIns="0" rtlCol="0" anchor="ctr"/>
          <a:lstStyle/>
          <a:p>
            <a:pPr indent="0" marL="0">
              <a:buNone/>
            </a:pPr>
            <a:r>
              <a:rPr lang="en-US" sz="1050" dirty="0">
                <a:solidFill>
                  <a:srgbClr val="7A7870"/>
                </a:solidFill>
                <a:latin typeface="Calibri" pitchFamily="34" charset="0"/>
                <a:ea typeface="Calibri" pitchFamily="34" charset="-122"/>
                <a:cs typeface="Calibri" pitchFamily="34" charset="-120"/>
              </a:rPr>
              <a:t>Point to the live price tickers — Gold $5,171, Silver $83.48, Oil $89.00. Say: 'These are the Kitco prices. Every market on this platform settles against these numbers.'</a:t>
            </a:r>
            <a:endParaRPr lang="en-US" sz="1050" dirty="0"/>
          </a:p>
        </p:txBody>
      </p:sp>
      <p:sp>
        <p:nvSpPr>
          <p:cNvPr id="11" name="Shape 9"/>
          <p:cNvSpPr/>
          <p:nvPr/>
        </p:nvSpPr>
        <p:spPr>
          <a:xfrm>
            <a:off x="457200" y="3337560"/>
            <a:ext cx="5669280" cy="1371600"/>
          </a:xfrm>
          <a:prstGeom prst="rect">
            <a:avLst/>
          </a:prstGeom>
          <a:solidFill>
            <a:srgbClr val="1C1C19"/>
          </a:solidFill>
          <a:ln w="12700">
            <a:solidFill>
              <a:srgbClr val="2A2A26"/>
            </a:solidFill>
            <a:prstDash val="solid"/>
          </a:ln>
        </p:spPr>
      </p:sp>
      <p:sp>
        <p:nvSpPr>
          <p:cNvPr id="12" name="Shape 10"/>
          <p:cNvSpPr/>
          <p:nvPr/>
        </p:nvSpPr>
        <p:spPr>
          <a:xfrm>
            <a:off x="457200" y="3337560"/>
            <a:ext cx="640080" cy="1371600"/>
          </a:xfrm>
          <a:prstGeom prst="rect">
            <a:avLst/>
          </a:prstGeom>
          <a:solidFill>
            <a:srgbClr val="C9920D"/>
          </a:solidFill>
          <a:ln w="12700">
            <a:solidFill>
              <a:srgbClr val="C9920D"/>
            </a:solidFill>
            <a:prstDash val="solid"/>
          </a:ln>
        </p:spPr>
      </p:sp>
      <p:sp>
        <p:nvSpPr>
          <p:cNvPr id="13" name="Text 11"/>
          <p:cNvSpPr/>
          <p:nvPr/>
        </p:nvSpPr>
        <p:spPr>
          <a:xfrm>
            <a:off x="457200" y="3813048"/>
            <a:ext cx="640080" cy="420624"/>
          </a:xfrm>
          <a:prstGeom prst="rect">
            <a:avLst/>
          </a:prstGeom>
          <a:noFill/>
          <a:ln/>
        </p:spPr>
        <p:txBody>
          <a:bodyPr wrap="square" lIns="0" tIns="0" rIns="0" bIns="0" rtlCol="0" anchor="ctr"/>
          <a:lstStyle/>
          <a:p>
            <a:pPr algn="ctr" indent="0" marL="0">
              <a:buNone/>
            </a:pPr>
            <a:r>
              <a:rPr lang="en-US" sz="1800" b="1" dirty="0">
                <a:solidFill>
                  <a:srgbClr val="0E0E0C"/>
                </a:solidFill>
                <a:latin typeface="Georgia" pitchFamily="34" charset="0"/>
                <a:ea typeface="Georgia" pitchFamily="34" charset="-122"/>
                <a:cs typeface="Georgia" pitchFamily="34" charset="-120"/>
              </a:rPr>
              <a:t>02</a:t>
            </a:r>
            <a:endParaRPr lang="en-US" sz="1800" dirty="0"/>
          </a:p>
        </p:txBody>
      </p:sp>
      <p:sp>
        <p:nvSpPr>
          <p:cNvPr id="14" name="Text 12"/>
          <p:cNvSpPr/>
          <p:nvPr/>
        </p:nvSpPr>
        <p:spPr>
          <a:xfrm>
            <a:off x="1207008" y="3429000"/>
            <a:ext cx="4800600" cy="274320"/>
          </a:xfrm>
          <a:prstGeom prst="rect">
            <a:avLst/>
          </a:prstGeom>
          <a:noFill/>
          <a:ln/>
        </p:spPr>
        <p:txBody>
          <a:bodyPr wrap="square" lIns="0" tIns="0" rIns="0" bIns="0" rtlCol="0" anchor="ctr"/>
          <a:lstStyle/>
          <a:p>
            <a:pPr indent="0" marL="0">
              <a:buNone/>
            </a:pPr>
            <a:r>
              <a:rPr lang="en-US" sz="1300" b="1" dirty="0">
                <a:solidFill>
                  <a:srgbClr val="DDD8CC"/>
                </a:solidFill>
                <a:latin typeface="Georgia" pitchFamily="34" charset="0"/>
                <a:ea typeface="Georgia" pitchFamily="34" charset="-122"/>
                <a:cs typeface="Georgia" pitchFamily="34" charset="-120"/>
              </a:rPr>
              <a:t>Navigate to Gold markets</a:t>
            </a:r>
            <a:endParaRPr lang="en-US" sz="1300" dirty="0"/>
          </a:p>
        </p:txBody>
      </p:sp>
      <p:sp>
        <p:nvSpPr>
          <p:cNvPr id="15" name="Text 13"/>
          <p:cNvSpPr/>
          <p:nvPr/>
        </p:nvSpPr>
        <p:spPr>
          <a:xfrm>
            <a:off x="1207008" y="3739896"/>
            <a:ext cx="4800600" cy="877824"/>
          </a:xfrm>
          <a:prstGeom prst="rect">
            <a:avLst/>
          </a:prstGeom>
          <a:noFill/>
          <a:ln/>
        </p:spPr>
        <p:txBody>
          <a:bodyPr wrap="square" lIns="0" tIns="0" rIns="0" bIns="0" rtlCol="0" anchor="ctr"/>
          <a:lstStyle/>
          <a:p>
            <a:pPr indent="0" marL="0">
              <a:buNone/>
            </a:pPr>
            <a:r>
              <a:rPr lang="en-US" sz="1050" dirty="0">
                <a:solidFill>
                  <a:srgbClr val="7A7870"/>
                </a:solidFill>
                <a:latin typeface="Calibri" pitchFamily="34" charset="0"/>
                <a:ea typeface="Calibri" pitchFamily="34" charset="-122"/>
                <a:cs typeface="Calibri" pitchFamily="34" charset="-120"/>
              </a:rPr>
              <a:t>Click Commodities → show the XAU/USD markets. 'These are real YES/NO contracts — traders put money behind their conviction. When the market closes, it settles against the Kitco published spot price.'</a:t>
            </a:r>
            <a:endParaRPr lang="en-US" sz="1050" dirty="0"/>
          </a:p>
        </p:txBody>
      </p:sp>
      <p:sp>
        <p:nvSpPr>
          <p:cNvPr id="16" name="Shape 14"/>
          <p:cNvSpPr/>
          <p:nvPr/>
        </p:nvSpPr>
        <p:spPr>
          <a:xfrm>
            <a:off x="457200" y="4846320"/>
            <a:ext cx="5669280" cy="1371600"/>
          </a:xfrm>
          <a:prstGeom prst="rect">
            <a:avLst/>
          </a:prstGeom>
          <a:solidFill>
            <a:srgbClr val="1C1C19"/>
          </a:solidFill>
          <a:ln w="12700">
            <a:solidFill>
              <a:srgbClr val="2A2A26"/>
            </a:solidFill>
            <a:prstDash val="solid"/>
          </a:ln>
        </p:spPr>
      </p:sp>
      <p:sp>
        <p:nvSpPr>
          <p:cNvPr id="17" name="Shape 15"/>
          <p:cNvSpPr/>
          <p:nvPr/>
        </p:nvSpPr>
        <p:spPr>
          <a:xfrm>
            <a:off x="457200" y="4846320"/>
            <a:ext cx="640080" cy="1371600"/>
          </a:xfrm>
          <a:prstGeom prst="rect">
            <a:avLst/>
          </a:prstGeom>
          <a:solidFill>
            <a:srgbClr val="C9920D"/>
          </a:solidFill>
          <a:ln w="12700">
            <a:solidFill>
              <a:srgbClr val="C9920D"/>
            </a:solidFill>
            <a:prstDash val="solid"/>
          </a:ln>
        </p:spPr>
      </p:sp>
      <p:sp>
        <p:nvSpPr>
          <p:cNvPr id="18" name="Text 16"/>
          <p:cNvSpPr/>
          <p:nvPr/>
        </p:nvSpPr>
        <p:spPr>
          <a:xfrm>
            <a:off x="457200" y="5321808"/>
            <a:ext cx="640080" cy="420624"/>
          </a:xfrm>
          <a:prstGeom prst="rect">
            <a:avLst/>
          </a:prstGeom>
          <a:noFill/>
          <a:ln/>
        </p:spPr>
        <p:txBody>
          <a:bodyPr wrap="square" lIns="0" tIns="0" rIns="0" bIns="0" rtlCol="0" anchor="ctr"/>
          <a:lstStyle/>
          <a:p>
            <a:pPr algn="ctr" indent="0" marL="0">
              <a:buNone/>
            </a:pPr>
            <a:r>
              <a:rPr lang="en-US" sz="1800" b="1" dirty="0">
                <a:solidFill>
                  <a:srgbClr val="0E0E0C"/>
                </a:solidFill>
                <a:latin typeface="Georgia" pitchFamily="34" charset="0"/>
                <a:ea typeface="Georgia" pitchFamily="34" charset="-122"/>
                <a:cs typeface="Georgia" pitchFamily="34" charset="-120"/>
              </a:rPr>
              <a:t>03</a:t>
            </a:r>
            <a:endParaRPr lang="en-US" sz="1800" dirty="0"/>
          </a:p>
        </p:txBody>
      </p:sp>
      <p:sp>
        <p:nvSpPr>
          <p:cNvPr id="19" name="Text 17"/>
          <p:cNvSpPr/>
          <p:nvPr/>
        </p:nvSpPr>
        <p:spPr>
          <a:xfrm>
            <a:off x="1207008" y="4937760"/>
            <a:ext cx="4800600" cy="274320"/>
          </a:xfrm>
          <a:prstGeom prst="rect">
            <a:avLst/>
          </a:prstGeom>
          <a:noFill/>
          <a:ln/>
        </p:spPr>
        <p:txBody>
          <a:bodyPr wrap="square" lIns="0" tIns="0" rIns="0" bIns="0" rtlCol="0" anchor="ctr"/>
          <a:lstStyle/>
          <a:p>
            <a:pPr indent="0" marL="0">
              <a:buNone/>
            </a:pPr>
            <a:r>
              <a:rPr lang="en-US" sz="1300" b="1" dirty="0">
                <a:solidFill>
                  <a:srgbClr val="DDD8CC"/>
                </a:solidFill>
                <a:latin typeface="Georgia" pitchFamily="34" charset="0"/>
                <a:ea typeface="Georgia" pitchFamily="34" charset="-122"/>
                <a:cs typeface="Georgia" pitchFamily="34" charset="-120"/>
              </a:rPr>
              <a:t>Show the Silver markets</a:t>
            </a:r>
            <a:endParaRPr lang="en-US" sz="1300" dirty="0"/>
          </a:p>
        </p:txBody>
      </p:sp>
      <p:sp>
        <p:nvSpPr>
          <p:cNvPr id="20" name="Text 18"/>
          <p:cNvSpPr/>
          <p:nvPr/>
        </p:nvSpPr>
        <p:spPr>
          <a:xfrm>
            <a:off x="1207008" y="5248656"/>
            <a:ext cx="4800600" cy="877824"/>
          </a:xfrm>
          <a:prstGeom prst="rect">
            <a:avLst/>
          </a:prstGeom>
          <a:noFill/>
          <a:ln/>
        </p:spPr>
        <p:txBody>
          <a:bodyPr wrap="square" lIns="0" tIns="0" rIns="0" bIns="0" rtlCol="0" anchor="ctr"/>
          <a:lstStyle/>
          <a:p>
            <a:pPr indent="0" marL="0">
              <a:buNone/>
            </a:pPr>
            <a:r>
              <a:rPr lang="en-US" sz="1050" dirty="0">
                <a:solidFill>
                  <a:srgbClr val="7A7870"/>
                </a:solidFill>
                <a:latin typeface="Calibri" pitchFamily="34" charset="0"/>
                <a:ea typeface="Calibri" pitchFamily="34" charset="-122"/>
                <a:cs typeface="Calibri" pitchFamily="34" charset="-120"/>
              </a:rPr>
              <a:t>Navigate to XAG/USD markets. 'This is your audience — 10 million monthly readers who follow silver. They've never had a place to put real money behind their view. Until now.'</a:t>
            </a:r>
            <a:endParaRPr lang="en-US" sz="1050" dirty="0"/>
          </a:p>
        </p:txBody>
      </p:sp>
      <p:sp>
        <p:nvSpPr>
          <p:cNvPr id="21" name="Shape 19"/>
          <p:cNvSpPr/>
          <p:nvPr/>
        </p:nvSpPr>
        <p:spPr>
          <a:xfrm>
            <a:off x="6446520" y="1828800"/>
            <a:ext cx="5669280" cy="1371600"/>
          </a:xfrm>
          <a:prstGeom prst="rect">
            <a:avLst/>
          </a:prstGeom>
          <a:solidFill>
            <a:srgbClr val="1C1C19"/>
          </a:solidFill>
          <a:ln w="12700">
            <a:solidFill>
              <a:srgbClr val="2A2A26"/>
            </a:solidFill>
            <a:prstDash val="solid"/>
          </a:ln>
        </p:spPr>
      </p:sp>
      <p:sp>
        <p:nvSpPr>
          <p:cNvPr id="22" name="Shape 20"/>
          <p:cNvSpPr/>
          <p:nvPr/>
        </p:nvSpPr>
        <p:spPr>
          <a:xfrm>
            <a:off x="6446520" y="1828800"/>
            <a:ext cx="640080" cy="1371600"/>
          </a:xfrm>
          <a:prstGeom prst="rect">
            <a:avLst/>
          </a:prstGeom>
          <a:solidFill>
            <a:srgbClr val="C9920D"/>
          </a:solidFill>
          <a:ln w="12700">
            <a:solidFill>
              <a:srgbClr val="C9920D"/>
            </a:solidFill>
            <a:prstDash val="solid"/>
          </a:ln>
        </p:spPr>
      </p:sp>
      <p:sp>
        <p:nvSpPr>
          <p:cNvPr id="23" name="Text 21"/>
          <p:cNvSpPr/>
          <p:nvPr/>
        </p:nvSpPr>
        <p:spPr>
          <a:xfrm>
            <a:off x="6446520" y="2304288"/>
            <a:ext cx="640080" cy="420624"/>
          </a:xfrm>
          <a:prstGeom prst="rect">
            <a:avLst/>
          </a:prstGeom>
          <a:noFill/>
          <a:ln/>
        </p:spPr>
        <p:txBody>
          <a:bodyPr wrap="square" lIns="0" tIns="0" rIns="0" bIns="0" rtlCol="0" anchor="ctr"/>
          <a:lstStyle/>
          <a:p>
            <a:pPr algn="ctr" indent="0" marL="0">
              <a:buNone/>
            </a:pPr>
            <a:r>
              <a:rPr lang="en-US" sz="1800" b="1" dirty="0">
                <a:solidFill>
                  <a:srgbClr val="0E0E0C"/>
                </a:solidFill>
                <a:latin typeface="Georgia" pitchFamily="34" charset="0"/>
                <a:ea typeface="Georgia" pitchFamily="34" charset="-122"/>
                <a:cs typeface="Georgia" pitchFamily="34" charset="-120"/>
              </a:rPr>
              <a:t>04</a:t>
            </a:r>
            <a:endParaRPr lang="en-US" sz="1800" dirty="0"/>
          </a:p>
        </p:txBody>
      </p:sp>
      <p:sp>
        <p:nvSpPr>
          <p:cNvPr id="24" name="Text 22"/>
          <p:cNvSpPr/>
          <p:nvPr/>
        </p:nvSpPr>
        <p:spPr>
          <a:xfrm>
            <a:off x="7196328" y="1920240"/>
            <a:ext cx="4800600" cy="274320"/>
          </a:xfrm>
          <a:prstGeom prst="rect">
            <a:avLst/>
          </a:prstGeom>
          <a:noFill/>
          <a:ln/>
        </p:spPr>
        <p:txBody>
          <a:bodyPr wrap="square" lIns="0" tIns="0" rIns="0" bIns="0" rtlCol="0" anchor="ctr"/>
          <a:lstStyle/>
          <a:p>
            <a:pPr indent="0" marL="0">
              <a:buNone/>
            </a:pPr>
            <a:r>
              <a:rPr lang="en-US" sz="1300" b="1" dirty="0">
                <a:solidFill>
                  <a:srgbClr val="DDD8CC"/>
                </a:solidFill>
                <a:latin typeface="Georgia" pitchFamily="34" charset="0"/>
                <a:ea typeface="Georgia" pitchFamily="34" charset="-122"/>
                <a:cs typeface="Georgia" pitchFamily="34" charset="-120"/>
              </a:rPr>
              <a:t>Show the leaderboard</a:t>
            </a:r>
            <a:endParaRPr lang="en-US" sz="1300" dirty="0"/>
          </a:p>
        </p:txBody>
      </p:sp>
      <p:sp>
        <p:nvSpPr>
          <p:cNvPr id="25" name="Text 23"/>
          <p:cNvSpPr/>
          <p:nvPr/>
        </p:nvSpPr>
        <p:spPr>
          <a:xfrm>
            <a:off x="7196328" y="2231136"/>
            <a:ext cx="4800600" cy="877824"/>
          </a:xfrm>
          <a:prstGeom prst="rect">
            <a:avLst/>
          </a:prstGeom>
          <a:noFill/>
          <a:ln/>
        </p:spPr>
        <p:txBody>
          <a:bodyPr wrap="square" lIns="0" tIns="0" rIns="0" bIns="0" rtlCol="0" anchor="ctr"/>
          <a:lstStyle/>
          <a:p>
            <a:pPr indent="0" marL="0">
              <a:buNone/>
            </a:pPr>
            <a:r>
              <a:rPr lang="en-US" sz="1050" dirty="0">
                <a:solidFill>
                  <a:srgbClr val="7A7870"/>
                </a:solidFill>
                <a:latin typeface="Calibri" pitchFamily="34" charset="0"/>
                <a:ea typeface="Calibri" pitchFamily="34" charset="-122"/>
                <a:cs typeface="Calibri" pitchFamily="34" charset="-120"/>
              </a:rPr>
              <a:t>Click Leaderboard. 'Top predictors build a track record. This drives retention and repeat visits — for us and for Kitco, since every winning trade started with a Kitco analysis.'</a:t>
            </a:r>
            <a:endParaRPr lang="en-US" sz="1050" dirty="0"/>
          </a:p>
        </p:txBody>
      </p:sp>
      <p:sp>
        <p:nvSpPr>
          <p:cNvPr id="26" name="Shape 24"/>
          <p:cNvSpPr/>
          <p:nvPr/>
        </p:nvSpPr>
        <p:spPr>
          <a:xfrm>
            <a:off x="6446520" y="3337560"/>
            <a:ext cx="5669280" cy="1371600"/>
          </a:xfrm>
          <a:prstGeom prst="rect">
            <a:avLst/>
          </a:prstGeom>
          <a:solidFill>
            <a:srgbClr val="1C1C19"/>
          </a:solidFill>
          <a:ln w="12700">
            <a:solidFill>
              <a:srgbClr val="2A2A26"/>
            </a:solidFill>
            <a:prstDash val="solid"/>
          </a:ln>
        </p:spPr>
      </p:sp>
      <p:sp>
        <p:nvSpPr>
          <p:cNvPr id="27" name="Shape 25"/>
          <p:cNvSpPr/>
          <p:nvPr/>
        </p:nvSpPr>
        <p:spPr>
          <a:xfrm>
            <a:off x="6446520" y="3337560"/>
            <a:ext cx="640080" cy="1371600"/>
          </a:xfrm>
          <a:prstGeom prst="rect">
            <a:avLst/>
          </a:prstGeom>
          <a:solidFill>
            <a:srgbClr val="C9920D"/>
          </a:solidFill>
          <a:ln w="12700">
            <a:solidFill>
              <a:srgbClr val="C9920D"/>
            </a:solidFill>
            <a:prstDash val="solid"/>
          </a:ln>
        </p:spPr>
      </p:sp>
      <p:sp>
        <p:nvSpPr>
          <p:cNvPr id="28" name="Text 26"/>
          <p:cNvSpPr/>
          <p:nvPr/>
        </p:nvSpPr>
        <p:spPr>
          <a:xfrm>
            <a:off x="6446520" y="3813048"/>
            <a:ext cx="640080" cy="420624"/>
          </a:xfrm>
          <a:prstGeom prst="rect">
            <a:avLst/>
          </a:prstGeom>
          <a:noFill/>
          <a:ln/>
        </p:spPr>
        <p:txBody>
          <a:bodyPr wrap="square" lIns="0" tIns="0" rIns="0" bIns="0" rtlCol="0" anchor="ctr"/>
          <a:lstStyle/>
          <a:p>
            <a:pPr algn="ctr" indent="0" marL="0">
              <a:buNone/>
            </a:pPr>
            <a:r>
              <a:rPr lang="en-US" sz="1800" b="1" dirty="0">
                <a:solidFill>
                  <a:srgbClr val="0E0E0C"/>
                </a:solidFill>
                <a:latin typeface="Georgia" pitchFamily="34" charset="0"/>
                <a:ea typeface="Georgia" pitchFamily="34" charset="-122"/>
                <a:cs typeface="Georgia" pitchFamily="34" charset="-120"/>
              </a:rPr>
              <a:t>05</a:t>
            </a:r>
            <a:endParaRPr lang="en-US" sz="1800" dirty="0"/>
          </a:p>
        </p:txBody>
      </p:sp>
      <p:sp>
        <p:nvSpPr>
          <p:cNvPr id="29" name="Text 27"/>
          <p:cNvSpPr/>
          <p:nvPr/>
        </p:nvSpPr>
        <p:spPr>
          <a:xfrm>
            <a:off x="7196328" y="3429000"/>
            <a:ext cx="4800600" cy="274320"/>
          </a:xfrm>
          <a:prstGeom prst="rect">
            <a:avLst/>
          </a:prstGeom>
          <a:noFill/>
          <a:ln/>
        </p:spPr>
        <p:txBody>
          <a:bodyPr wrap="square" lIns="0" tIns="0" rIns="0" bIns="0" rtlCol="0" anchor="ctr"/>
          <a:lstStyle/>
          <a:p>
            <a:pPr indent="0" marL="0">
              <a:buNone/>
            </a:pPr>
            <a:r>
              <a:rPr lang="en-US" sz="1300" b="1" dirty="0">
                <a:solidFill>
                  <a:srgbClr val="DDD8CC"/>
                </a:solidFill>
                <a:latin typeface="Georgia" pitchFamily="34" charset="0"/>
                <a:ea typeface="Georgia" pitchFamily="34" charset="-122"/>
                <a:cs typeface="Georgia" pitchFamily="34" charset="-120"/>
              </a:rPr>
              <a:t>The market creation screen</a:t>
            </a:r>
            <a:endParaRPr lang="en-US" sz="1300" dirty="0"/>
          </a:p>
        </p:txBody>
      </p:sp>
      <p:sp>
        <p:nvSpPr>
          <p:cNvPr id="30" name="Text 28"/>
          <p:cNvSpPr/>
          <p:nvPr/>
        </p:nvSpPr>
        <p:spPr>
          <a:xfrm>
            <a:off x="7196328" y="3739896"/>
            <a:ext cx="4800600" cy="877824"/>
          </a:xfrm>
          <a:prstGeom prst="rect">
            <a:avLst/>
          </a:prstGeom>
          <a:noFill/>
          <a:ln/>
        </p:spPr>
        <p:txBody>
          <a:bodyPr wrap="square" lIns="0" tIns="0" rIns="0" bIns="0" rtlCol="0" anchor="ctr"/>
          <a:lstStyle/>
          <a:p>
            <a:pPr indent="0" marL="0">
              <a:buNone/>
            </a:pPr>
            <a:r>
              <a:rPr lang="en-US" sz="1050" dirty="0">
                <a:solidFill>
                  <a:srgbClr val="7A7870"/>
                </a:solidFill>
                <a:latin typeface="Calibri" pitchFamily="34" charset="0"/>
                <a:ea typeface="Calibri" pitchFamily="34" charset="-122"/>
                <a:cs typeface="Calibri" pitchFamily="34" charset="-120"/>
              </a:rPr>
              <a:t>Click Create Market. Show the form. 'Market creators set the question. The settlement oracle is the price source — we want that to be Kitco for every commodity market on this platform.'</a:t>
            </a:r>
            <a:endParaRPr lang="en-US" sz="1050" dirty="0"/>
          </a:p>
        </p:txBody>
      </p:sp>
      <p:sp>
        <p:nvSpPr>
          <p:cNvPr id="31" name="Text 29"/>
          <p:cNvSpPr/>
          <p:nvPr/>
        </p:nvSpPr>
        <p:spPr>
          <a:xfrm>
            <a:off x="365760" y="6492240"/>
            <a:ext cx="2743200" cy="228600"/>
          </a:xfrm>
          <a:prstGeom prst="rect">
            <a:avLst/>
          </a:prstGeom>
          <a:noFill/>
          <a:ln/>
        </p:spPr>
        <p:txBody>
          <a:bodyPr wrap="square" lIns="0" tIns="0" rIns="0" bIns="0" rtlCol="0" anchor="ctr"/>
          <a:lstStyle/>
          <a:p>
            <a:pPr indent="0" marL="0">
              <a:buNone/>
            </a:pPr>
            <a:r>
              <a:rPr lang="en-US" sz="900" b="1" spc="200" kern="0" dirty="0">
                <a:solidFill>
                  <a:srgbClr val="C9920D"/>
                </a:solidFill>
                <a:latin typeface="Consolas" pitchFamily="34" charset="0"/>
                <a:ea typeface="Consolas" pitchFamily="34" charset="-122"/>
                <a:cs typeface="Consolas" pitchFamily="34" charset="-120"/>
              </a:rPr>
              <a:t>◆ HYPERFLEX</a:t>
            </a:r>
            <a:endParaRPr lang="en-US" sz="900" dirty="0"/>
          </a:p>
        </p:txBody>
      </p:sp>
      <p:sp>
        <p:nvSpPr>
          <p:cNvPr id="32" name="Text 30"/>
          <p:cNvSpPr/>
          <p:nvPr/>
        </p:nvSpPr>
        <p:spPr>
          <a:xfrm>
            <a:off x="9052560" y="6492240"/>
            <a:ext cx="2743200" cy="228600"/>
          </a:xfrm>
          <a:prstGeom prst="rect">
            <a:avLst/>
          </a:prstGeom>
          <a:noFill/>
          <a:ln/>
        </p:spPr>
        <p:txBody>
          <a:bodyPr wrap="square" lIns="0" tIns="0" rIns="0" bIns="0" rtlCol="0" anchor="ctr"/>
          <a:lstStyle/>
          <a:p>
            <a:pPr algn="r" indent="0" marL="0">
              <a:buNone/>
            </a:pPr>
            <a:r>
              <a:rPr lang="en-US" sz="800" spc="100" kern="0" dirty="0">
                <a:solidFill>
                  <a:srgbClr val="7A7870"/>
                </a:solidFill>
                <a:latin typeface="Consolas" pitchFamily="34" charset="0"/>
                <a:ea typeface="Consolas" pitchFamily="34" charset="-122"/>
                <a:cs typeface="Consolas" pitchFamily="34" charset="-120"/>
              </a:rPr>
              <a:t>DEMO GUIDE — USE hyperflex-v5-themed_.html ONLY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HYPERFLEX — Kitco Call Prep</dc:title>
  <dc:subject>PptxGenJS Presentation</dc:subject>
  <dc:creator>PptxGenJS</dc:creator>
  <cp:lastModifiedBy>PptxGenJS</cp:lastModifiedBy>
  <cp:revision>1</cp:revision>
  <dcterms:created xsi:type="dcterms:W3CDTF">2026-03-08T06:33:58Z</dcterms:created>
  <dcterms:modified xsi:type="dcterms:W3CDTF">2026-03-08T06:33:58Z</dcterms:modified>
</cp:coreProperties>
</file>